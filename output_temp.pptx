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3" r:id="rId6"/>
    <p:sldId id="260" r:id="rId7"/>
    <p:sldId id="261" r:id="rId8"/>
    <p:sldId id="264" r:id="rId9"/>
    <p:sldId id="265" r:id="rId10"/>
    <p:sldId id="267" r:id="rId11"/>
    <p:sldId id="262" r:id="rId12"/>
    <p:sldId id="266" r:id="rId13"/>
    <p:sldId id="268" r:id="rId19"/>
    <p:sldId id="269" r:id="rId20"/>
  </p:sldIdLst>
  <p:sldSz cx="18288000" cy="10287000"/>
  <p:notesSz cx="6858000" cy="9144000"/>
  <p:embeddedFontLst>
    <p:embeddedFont>
      <p:font typeface="210 네버랜드" panose="020B0600000101010101" charset="-127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126" y="4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47212" y="2740586"/>
            <a:ext cx="9703743" cy="1460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sz="8499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전사 DX/AX 교육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820497" y="1700531"/>
            <a:ext cx="2208816" cy="926654"/>
            <a:chOff x="0" y="0"/>
            <a:chExt cx="2945089" cy="12355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45089" cy="1235539"/>
            </a:xfrm>
            <a:custGeom>
              <a:avLst/>
              <a:gdLst/>
              <a:ahLst/>
              <a:cxnLst/>
              <a:rect l="l" t="t" r="r" b="b"/>
              <a:pathLst>
                <a:path w="2945089" h="1235539">
                  <a:moveTo>
                    <a:pt x="0" y="0"/>
                  </a:moveTo>
                  <a:lnTo>
                    <a:pt x="2945089" y="0"/>
                  </a:lnTo>
                  <a:lnTo>
                    <a:pt x="2945089" y="1235539"/>
                  </a:lnTo>
                  <a:lnTo>
                    <a:pt x="0" y="1235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23" r="-8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90497" y="172276"/>
              <a:ext cx="2164094" cy="890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92"/>
                </a:lnSpc>
                <a:spcBef>
                  <a:spcPct val="0"/>
                </a:spcBef>
              </a:pPr>
              <a:r>
                <a:rPr 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1회차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47212" y="8039495"/>
            <a:ext cx="13924757" cy="83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우리가</a:t>
            </a:r>
            <a:r>
              <a:rPr lang="en-US" sz="47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7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반복하는</a:t>
            </a:r>
            <a:r>
              <a:rPr lang="en-US" sz="47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일, </a:t>
            </a:r>
            <a:r>
              <a:rPr lang="en-US" sz="47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아직도</a:t>
            </a:r>
            <a:r>
              <a:rPr lang="en-US" sz="47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7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이렇게</a:t>
            </a:r>
            <a:r>
              <a:rPr lang="en-US" sz="47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7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하고</a:t>
            </a:r>
            <a:r>
              <a:rPr lang="en-US" sz="47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7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있나요</a:t>
            </a:r>
            <a:r>
              <a:rPr lang="en-US" sz="47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E3E84-67DD-937A-B4FC-7F50E4FC2891}"/>
              </a:ext>
            </a:extLst>
          </p:cNvPr>
          <p:cNvSpPr txBox="1"/>
          <p:nvPr/>
        </p:nvSpPr>
        <p:spPr>
          <a:xfrm>
            <a:off x="15468600" y="160886"/>
            <a:ext cx="3124200" cy="805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altLang="ko-KR" sz="18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2026.06.10(</a:t>
            </a:r>
            <a:r>
              <a:rPr lang="ko-KR" altLang="en-US" sz="18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화</a:t>
            </a:r>
            <a:r>
              <a:rPr lang="en-US" altLang="ko-KR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)</a:t>
            </a:r>
            <a:endParaRPr lang="en-US" altLang="ko-KR" sz="18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2716" y="1734870"/>
            <a:ext cx="16743348" cy="795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54" lvl="1" indent="-474977" algn="l">
              <a:lnSpc>
                <a:spcPts val="6159"/>
              </a:lnSpc>
              <a:buFont typeface="Arial"/>
              <a:buChar char="•"/>
            </a:pP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도입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—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공감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유발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(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업무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반복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상황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4가지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카드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)</a:t>
            </a:r>
          </a:p>
          <a:p>
            <a:pPr marL="949954" lvl="1" indent="-474977" algn="l">
              <a:lnSpc>
                <a:spcPts val="6159"/>
              </a:lnSpc>
              <a:buFont typeface="Arial"/>
              <a:buChar char="•"/>
            </a:pP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오늘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교육에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대한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목적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소개</a:t>
            </a:r>
            <a:endParaRPr lang="en-US" sz="4399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  <a:p>
            <a:pPr marL="949954" lvl="1" indent="-474977" algn="l">
              <a:lnSpc>
                <a:spcPts val="6159"/>
              </a:lnSpc>
              <a:buFont typeface="Arial"/>
              <a:buChar char="•"/>
            </a:pP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DX vs AX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개념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(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시각적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대비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)</a:t>
            </a:r>
          </a:p>
          <a:p>
            <a:pPr marL="949954" lvl="1" indent="-474977" algn="l">
              <a:lnSpc>
                <a:spcPts val="6159"/>
              </a:lnSpc>
              <a:buFont typeface="Arial"/>
              <a:buChar char="•"/>
            </a:pP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AI가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실제로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뭘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해주냐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(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직접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예시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)</a:t>
            </a:r>
          </a:p>
          <a:p>
            <a:pPr marL="949954" lvl="1" indent="-474977" algn="l">
              <a:lnSpc>
                <a:spcPts val="6159"/>
              </a:lnSpc>
              <a:buFont typeface="Arial"/>
              <a:buChar char="•"/>
            </a:pP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실제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사례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(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마케팅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,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영업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)</a:t>
            </a:r>
          </a:p>
          <a:p>
            <a:pPr marL="949954" lvl="1" indent="-474977" algn="l">
              <a:lnSpc>
                <a:spcPts val="6159"/>
              </a:lnSpc>
              <a:buFont typeface="Arial"/>
              <a:buChar char="•"/>
            </a:pP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핵심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프레임워크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(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사례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본 뒤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정리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)</a:t>
            </a:r>
          </a:p>
          <a:p>
            <a:pPr marL="949954" lvl="1" indent="-474977" algn="l">
              <a:lnSpc>
                <a:spcPts val="6159"/>
              </a:lnSpc>
              <a:buFont typeface="Arial"/>
              <a:buChar char="•"/>
            </a:pP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실전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팁 한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가지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(1회차)</a:t>
            </a:r>
          </a:p>
          <a:p>
            <a:pPr marL="949954" lvl="1" indent="-474977" algn="l">
              <a:lnSpc>
                <a:spcPts val="6159"/>
              </a:lnSpc>
              <a:buFont typeface="Arial"/>
              <a:buChar char="•"/>
            </a:pP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회사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DX/AX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전환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현황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안내</a:t>
            </a:r>
            <a:endParaRPr lang="en-US" sz="4399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  <a:p>
            <a:pPr marL="949954" lvl="1" indent="-474977" algn="l">
              <a:lnSpc>
                <a:spcPts val="6159"/>
              </a:lnSpc>
              <a:buFont typeface="Arial"/>
              <a:buChar char="•"/>
            </a:pP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마무리</a:t>
            </a:r>
            <a:endParaRPr lang="en-US" sz="4399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  <a:p>
            <a:pPr algn="l">
              <a:lnSpc>
                <a:spcPts val="6159"/>
              </a:lnSpc>
              <a:spcBef>
                <a:spcPct val="0"/>
              </a:spcBef>
            </a:pPr>
            <a:endParaRPr lang="en-US" sz="4399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033BDA4D-1C4D-2D42-4097-DBBE6D8456E2}"/>
              </a:ext>
            </a:extLst>
          </p:cNvPr>
          <p:cNvGrpSpPr/>
          <p:nvPr/>
        </p:nvGrpSpPr>
        <p:grpSpPr>
          <a:xfrm>
            <a:off x="275797" y="303268"/>
            <a:ext cx="17656784" cy="1145068"/>
            <a:chOff x="0" y="0"/>
            <a:chExt cx="23542379" cy="1526758"/>
          </a:xfrm>
        </p:grpSpPr>
        <p:grpSp>
          <p:nvGrpSpPr>
            <p:cNvPr id="4" name="Group 15">
              <a:extLst>
                <a:ext uri="{FF2B5EF4-FFF2-40B4-BE49-F238E27FC236}">
                  <a16:creationId xmlns:a16="http://schemas.microsoft.com/office/drawing/2014/main" id="{BC323ED2-7037-C116-3325-859585E67FEF}"/>
                </a:ext>
              </a:extLst>
            </p:cNvPr>
            <p:cNvGrpSpPr/>
            <p:nvPr/>
          </p:nvGrpSpPr>
          <p:grpSpPr>
            <a:xfrm>
              <a:off x="0" y="0"/>
              <a:ext cx="23542379" cy="1526758"/>
              <a:chOff x="0" y="0"/>
              <a:chExt cx="3633083" cy="235611"/>
            </a:xfrm>
          </p:grpSpPr>
          <p:sp>
            <p:nvSpPr>
              <p:cNvPr id="6" name="Freeform 16">
                <a:extLst>
                  <a:ext uri="{FF2B5EF4-FFF2-40B4-BE49-F238E27FC236}">
                    <a16:creationId xmlns:a16="http://schemas.microsoft.com/office/drawing/2014/main" id="{C976769E-46FA-CD5E-CAEE-5D21EA9D2368}"/>
                  </a:ext>
                </a:extLst>
              </p:cNvPr>
              <p:cNvSpPr/>
              <p:nvPr/>
            </p:nvSpPr>
            <p:spPr>
              <a:xfrm>
                <a:off x="0" y="0"/>
                <a:ext cx="3633083" cy="235611"/>
              </a:xfrm>
              <a:custGeom>
                <a:avLst/>
                <a:gdLst/>
                <a:ahLst/>
                <a:cxnLst/>
                <a:rect l="l" t="t" r="r" b="b"/>
                <a:pathLst>
                  <a:path w="3633083" h="235611">
                    <a:moveTo>
                      <a:pt x="8564" y="0"/>
                    </a:moveTo>
                    <a:lnTo>
                      <a:pt x="3624519" y="0"/>
                    </a:lnTo>
                    <a:cubicBezTo>
                      <a:pt x="3629249" y="0"/>
                      <a:pt x="3633083" y="3834"/>
                      <a:pt x="3633083" y="8564"/>
                    </a:cubicBezTo>
                    <a:lnTo>
                      <a:pt x="3633083" y="227047"/>
                    </a:lnTo>
                    <a:cubicBezTo>
                      <a:pt x="3633083" y="229318"/>
                      <a:pt x="3632181" y="231496"/>
                      <a:pt x="3630575" y="233102"/>
                    </a:cubicBezTo>
                    <a:cubicBezTo>
                      <a:pt x="3628969" y="234709"/>
                      <a:pt x="3626791" y="235611"/>
                      <a:pt x="3624519" y="235611"/>
                    </a:cubicBezTo>
                    <a:lnTo>
                      <a:pt x="8564" y="235611"/>
                    </a:lnTo>
                    <a:cubicBezTo>
                      <a:pt x="3834" y="235611"/>
                      <a:pt x="0" y="231777"/>
                      <a:pt x="0" y="227047"/>
                    </a:cubicBezTo>
                    <a:lnTo>
                      <a:pt x="0" y="8564"/>
                    </a:lnTo>
                    <a:cubicBezTo>
                      <a:pt x="0" y="3834"/>
                      <a:pt x="3834" y="0"/>
                      <a:pt x="8564" y="0"/>
                    </a:cubicBezTo>
                    <a:close/>
                  </a:path>
                </a:pathLst>
              </a:custGeom>
              <a:solidFill>
                <a:srgbClr val="86B49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" name="TextBox 17">
                <a:extLst>
                  <a:ext uri="{FF2B5EF4-FFF2-40B4-BE49-F238E27FC236}">
                    <a16:creationId xmlns:a16="http://schemas.microsoft.com/office/drawing/2014/main" id="{A858265C-2798-3E97-9A4C-E8E3BD758E18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633083" cy="26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" name="TextBox 18">
              <a:extLst>
                <a:ext uri="{FF2B5EF4-FFF2-40B4-BE49-F238E27FC236}">
                  <a16:creationId xmlns:a16="http://schemas.microsoft.com/office/drawing/2014/main" id="{5F3B2DC2-9002-C800-D504-15180A4C30D6}"/>
                </a:ext>
              </a:extLst>
            </p:cNvPr>
            <p:cNvSpPr txBox="1"/>
            <p:nvPr/>
          </p:nvSpPr>
          <p:spPr>
            <a:xfrm>
              <a:off x="624116" y="292485"/>
              <a:ext cx="10147449" cy="974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92"/>
                </a:lnSpc>
                <a:spcBef>
                  <a:spcPct val="0"/>
                </a:spcBef>
              </a:pPr>
              <a:r>
                <a:rPr lang="ko-KR" alt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강의 목차</a:t>
              </a:r>
              <a:endParaRPr lang="en-US" sz="4066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7714" y="2119495"/>
            <a:ext cx="92342" cy="1923630"/>
            <a:chOff x="0" y="0"/>
            <a:chExt cx="24321" cy="5066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21" cy="506635"/>
            </a:xfrm>
            <a:custGeom>
              <a:avLst/>
              <a:gdLst/>
              <a:ahLst/>
              <a:cxnLst/>
              <a:rect l="l" t="t" r="r" b="b"/>
              <a:pathLst>
                <a:path w="24321" h="506635">
                  <a:moveTo>
                    <a:pt x="0" y="0"/>
                  </a:moveTo>
                  <a:lnTo>
                    <a:pt x="24321" y="0"/>
                  </a:lnTo>
                  <a:lnTo>
                    <a:pt x="24321" y="506635"/>
                  </a:lnTo>
                  <a:lnTo>
                    <a:pt x="0" y="506635"/>
                  </a:ln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321" cy="535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714" y="5456744"/>
            <a:ext cx="92342" cy="1923630"/>
            <a:chOff x="0" y="0"/>
            <a:chExt cx="24321" cy="5066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21" cy="506635"/>
            </a:xfrm>
            <a:custGeom>
              <a:avLst/>
              <a:gdLst/>
              <a:ahLst/>
              <a:cxnLst/>
              <a:rect l="l" t="t" r="r" b="b"/>
              <a:pathLst>
                <a:path w="24321" h="506635">
                  <a:moveTo>
                    <a:pt x="0" y="0"/>
                  </a:moveTo>
                  <a:lnTo>
                    <a:pt x="24321" y="0"/>
                  </a:lnTo>
                  <a:lnTo>
                    <a:pt x="24321" y="506635"/>
                  </a:lnTo>
                  <a:lnTo>
                    <a:pt x="0" y="506635"/>
                  </a:ln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4321" cy="535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28160" y="2119495"/>
            <a:ext cx="92342" cy="1923630"/>
            <a:chOff x="0" y="0"/>
            <a:chExt cx="24321" cy="5066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21" cy="506635"/>
            </a:xfrm>
            <a:custGeom>
              <a:avLst/>
              <a:gdLst/>
              <a:ahLst/>
              <a:cxnLst/>
              <a:rect l="l" t="t" r="r" b="b"/>
              <a:pathLst>
                <a:path w="24321" h="506635">
                  <a:moveTo>
                    <a:pt x="0" y="0"/>
                  </a:moveTo>
                  <a:lnTo>
                    <a:pt x="24321" y="0"/>
                  </a:lnTo>
                  <a:lnTo>
                    <a:pt x="24321" y="506635"/>
                  </a:lnTo>
                  <a:lnTo>
                    <a:pt x="0" y="506635"/>
                  </a:ln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4321" cy="535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735818" y="5456744"/>
            <a:ext cx="92342" cy="1923630"/>
            <a:chOff x="0" y="0"/>
            <a:chExt cx="24321" cy="5066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21" cy="506635"/>
            </a:xfrm>
            <a:custGeom>
              <a:avLst/>
              <a:gdLst/>
              <a:ahLst/>
              <a:cxnLst/>
              <a:rect l="l" t="t" r="r" b="b"/>
              <a:pathLst>
                <a:path w="24321" h="506635">
                  <a:moveTo>
                    <a:pt x="0" y="0"/>
                  </a:moveTo>
                  <a:lnTo>
                    <a:pt x="24321" y="0"/>
                  </a:lnTo>
                  <a:lnTo>
                    <a:pt x="24321" y="506635"/>
                  </a:lnTo>
                  <a:lnTo>
                    <a:pt x="0" y="506635"/>
                  </a:ln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4321" cy="535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5797" y="303268"/>
            <a:ext cx="17656784" cy="1145068"/>
            <a:chOff x="0" y="0"/>
            <a:chExt cx="23542379" cy="1526758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23542379" cy="1526758"/>
              <a:chOff x="0" y="0"/>
              <a:chExt cx="3633083" cy="2356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633083" cy="235611"/>
              </a:xfrm>
              <a:custGeom>
                <a:avLst/>
                <a:gdLst/>
                <a:ahLst/>
                <a:cxnLst/>
                <a:rect l="l" t="t" r="r" b="b"/>
                <a:pathLst>
                  <a:path w="3633083" h="235611">
                    <a:moveTo>
                      <a:pt x="8564" y="0"/>
                    </a:moveTo>
                    <a:lnTo>
                      <a:pt x="3624519" y="0"/>
                    </a:lnTo>
                    <a:cubicBezTo>
                      <a:pt x="3629249" y="0"/>
                      <a:pt x="3633083" y="3834"/>
                      <a:pt x="3633083" y="8564"/>
                    </a:cubicBezTo>
                    <a:lnTo>
                      <a:pt x="3633083" y="227047"/>
                    </a:lnTo>
                    <a:cubicBezTo>
                      <a:pt x="3633083" y="229318"/>
                      <a:pt x="3632181" y="231496"/>
                      <a:pt x="3630575" y="233102"/>
                    </a:cubicBezTo>
                    <a:cubicBezTo>
                      <a:pt x="3628969" y="234709"/>
                      <a:pt x="3626791" y="235611"/>
                      <a:pt x="3624519" y="235611"/>
                    </a:cubicBezTo>
                    <a:lnTo>
                      <a:pt x="8564" y="235611"/>
                    </a:lnTo>
                    <a:cubicBezTo>
                      <a:pt x="3834" y="235611"/>
                      <a:pt x="0" y="231777"/>
                      <a:pt x="0" y="227047"/>
                    </a:cubicBezTo>
                    <a:lnTo>
                      <a:pt x="0" y="8564"/>
                    </a:lnTo>
                    <a:cubicBezTo>
                      <a:pt x="0" y="3834"/>
                      <a:pt x="3834" y="0"/>
                      <a:pt x="8564" y="0"/>
                    </a:cubicBezTo>
                    <a:close/>
                  </a:path>
                </a:pathLst>
              </a:custGeom>
              <a:solidFill>
                <a:srgbClr val="86B49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633083" cy="26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24116" y="292485"/>
              <a:ext cx="10147449" cy="890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92"/>
                </a:lnSpc>
                <a:spcBef>
                  <a:spcPct val="0"/>
                </a:spcBef>
              </a:pPr>
              <a:r>
                <a:rPr lang="en-US" sz="4066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오늘 하루, 이런 일 없으셨나요?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6546" y="2033770"/>
            <a:ext cx="4640922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매주 같은 보고서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6546" y="5371019"/>
            <a:ext cx="6758847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가맹점 데이터 수동 취합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76992" y="2033770"/>
            <a:ext cx="7109180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회의 전날 밤 데이터 정리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84650" y="5371019"/>
            <a:ext cx="8098241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담당자 바뀔 때마다 반복 설명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06259" y="8484092"/>
            <a:ext cx="12443802" cy="83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앞으로 도리당은 이런 시간을 줄여나갑니다.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5797" y="303268"/>
            <a:ext cx="17656784" cy="1145068"/>
            <a:chOff x="0" y="0"/>
            <a:chExt cx="23542379" cy="152675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542379" cy="1526758"/>
              <a:chOff x="0" y="0"/>
              <a:chExt cx="3633083" cy="23561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633083" cy="235611"/>
              </a:xfrm>
              <a:custGeom>
                <a:avLst/>
                <a:gdLst/>
                <a:ahLst/>
                <a:cxnLst/>
                <a:rect l="l" t="t" r="r" b="b"/>
                <a:pathLst>
                  <a:path w="3633083" h="235611">
                    <a:moveTo>
                      <a:pt x="8564" y="0"/>
                    </a:moveTo>
                    <a:lnTo>
                      <a:pt x="3624519" y="0"/>
                    </a:lnTo>
                    <a:cubicBezTo>
                      <a:pt x="3629249" y="0"/>
                      <a:pt x="3633083" y="3834"/>
                      <a:pt x="3633083" y="8564"/>
                    </a:cubicBezTo>
                    <a:lnTo>
                      <a:pt x="3633083" y="227047"/>
                    </a:lnTo>
                    <a:cubicBezTo>
                      <a:pt x="3633083" y="229318"/>
                      <a:pt x="3632181" y="231496"/>
                      <a:pt x="3630575" y="233102"/>
                    </a:cubicBezTo>
                    <a:cubicBezTo>
                      <a:pt x="3628969" y="234709"/>
                      <a:pt x="3626791" y="235611"/>
                      <a:pt x="3624519" y="235611"/>
                    </a:cubicBezTo>
                    <a:lnTo>
                      <a:pt x="8564" y="235611"/>
                    </a:lnTo>
                    <a:cubicBezTo>
                      <a:pt x="3834" y="235611"/>
                      <a:pt x="0" y="231777"/>
                      <a:pt x="0" y="227047"/>
                    </a:cubicBezTo>
                    <a:lnTo>
                      <a:pt x="0" y="8564"/>
                    </a:lnTo>
                    <a:cubicBezTo>
                      <a:pt x="0" y="3834"/>
                      <a:pt x="3834" y="0"/>
                      <a:pt x="8564" y="0"/>
                    </a:cubicBezTo>
                    <a:close/>
                  </a:path>
                </a:pathLst>
              </a:custGeom>
              <a:solidFill>
                <a:srgbClr val="86B49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3633083" cy="26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624116" y="292485"/>
              <a:ext cx="10147449" cy="974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92"/>
                </a:lnSpc>
                <a:spcBef>
                  <a:spcPct val="0"/>
                </a:spcBef>
              </a:pPr>
              <a:r>
                <a:rPr 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‘</a:t>
              </a:r>
              <a:r>
                <a:rPr lang="en-US" sz="4066" dirty="0" err="1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전사</a:t>
              </a:r>
              <a:r>
                <a:rPr 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 DX/AX’ </a:t>
              </a:r>
              <a:r>
                <a:rPr lang="en-US" sz="4066" dirty="0" err="1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교육</a:t>
              </a:r>
              <a:r>
                <a:rPr 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 </a:t>
              </a:r>
              <a:r>
                <a:rPr lang="ko-KR" alt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목적</a:t>
              </a:r>
              <a:endParaRPr lang="en-US" sz="4066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569372" y="2168999"/>
            <a:ext cx="5290312" cy="100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en-US" sz="5798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AI, SKILL UP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93489" y="3174785"/>
            <a:ext cx="655439" cy="1544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en-US" sz="19900" dirty="0">
                <a:solidFill>
                  <a:srgbClr val="FF3131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X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4751999F-EFF6-711D-CA67-36B6C79AD6E4}"/>
              </a:ext>
            </a:extLst>
          </p:cNvPr>
          <p:cNvSpPr txBox="1"/>
          <p:nvPr/>
        </p:nvSpPr>
        <p:spPr>
          <a:xfrm>
            <a:off x="914400" y="7191970"/>
            <a:ext cx="15825272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ko-KR" altLang="en-US" sz="6000" dirty="0">
                <a:latin typeface="210 네버랜드" panose="020B0600000101010101" charset="-127"/>
                <a:ea typeface="210 네버랜드" panose="020B0600000101010101" charset="-127"/>
              </a:rPr>
              <a:t>보고서 정리</a:t>
            </a:r>
            <a:r>
              <a:rPr lang="en-US" altLang="ko-KR" sz="6000" dirty="0">
                <a:latin typeface="210 네버랜드" panose="020B0600000101010101" charset="-127"/>
                <a:ea typeface="210 네버랜드" panose="020B0600000101010101" charset="-127"/>
              </a:rPr>
              <a:t>, </a:t>
            </a:r>
            <a:r>
              <a:rPr lang="ko-KR" altLang="en-US" sz="6000" dirty="0">
                <a:latin typeface="210 네버랜드" panose="020B0600000101010101" charset="-127"/>
                <a:ea typeface="210 네버랜드" panose="020B0600000101010101" charset="-127"/>
              </a:rPr>
              <a:t>데이터 분석</a:t>
            </a:r>
            <a:r>
              <a:rPr lang="en-US" altLang="ko-KR" sz="6000" dirty="0">
                <a:latin typeface="210 네버랜드" panose="020B0600000101010101" charset="-127"/>
                <a:ea typeface="210 네버랜드" panose="020B0600000101010101" charset="-127"/>
              </a:rPr>
              <a:t>, </a:t>
            </a:r>
            <a:r>
              <a:rPr lang="ko-KR" altLang="en-US" sz="6000" dirty="0" err="1">
                <a:latin typeface="210 네버랜드" panose="020B0600000101010101" charset="-127"/>
                <a:ea typeface="210 네버랜드" panose="020B0600000101010101" charset="-127"/>
              </a:rPr>
              <a:t>인수인계등</a:t>
            </a:r>
            <a:r>
              <a:rPr lang="ko-KR" altLang="en-US" sz="6000" dirty="0">
                <a:latin typeface="210 네버랜드" panose="020B0600000101010101" charset="-127"/>
                <a:ea typeface="210 네버랜드" panose="020B0600000101010101" charset="-127"/>
              </a:rPr>
              <a:t> 업무를</a:t>
            </a:r>
          </a:p>
          <a:p>
            <a:pPr algn="ctr"/>
            <a:r>
              <a:rPr lang="ko-KR" altLang="en-US" sz="6000" dirty="0">
                <a:latin typeface="210 네버랜드" panose="020B0600000101010101" charset="-127"/>
                <a:ea typeface="210 네버랜드" panose="020B0600000101010101" charset="-127"/>
              </a:rPr>
              <a:t>빠르고 효율적으로 처리하는 방법</a:t>
            </a:r>
            <a:endParaRPr lang="en-US" sz="5798" dirty="0">
              <a:solidFill>
                <a:srgbClr val="000000"/>
              </a:solidFill>
              <a:latin typeface="210 네버랜드" panose="020B0600000101010101" charset="-127"/>
              <a:ea typeface="210 네버랜드" panose="020B0600000101010101" charset="-127"/>
              <a:cs typeface="210 네버랜드"/>
              <a:sym typeface="210 네버랜드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04AE5086-0C02-B940-7934-4F98CBE476B2}"/>
              </a:ext>
            </a:extLst>
          </p:cNvPr>
          <p:cNvSpPr txBox="1"/>
          <p:nvPr/>
        </p:nvSpPr>
        <p:spPr>
          <a:xfrm>
            <a:off x="4572000" y="2171700"/>
            <a:ext cx="5290312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en-US" sz="5798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AI, SKILL UP</a:t>
            </a: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4C923E80-4547-411C-4151-1E8DF84029DF}"/>
              </a:ext>
            </a:extLst>
          </p:cNvPr>
          <p:cNvSpPr/>
          <p:nvPr/>
        </p:nvSpPr>
        <p:spPr>
          <a:xfrm>
            <a:off x="7516271" y="4686300"/>
            <a:ext cx="1676400" cy="1846659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0EC0-9ED1-BE9E-33DD-BD5A241D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8CEA4F-4CEF-EDB3-540D-36704FC88329}"/>
              </a:ext>
            </a:extLst>
          </p:cNvPr>
          <p:cNvGrpSpPr/>
          <p:nvPr/>
        </p:nvGrpSpPr>
        <p:grpSpPr>
          <a:xfrm>
            <a:off x="275797" y="303268"/>
            <a:ext cx="17656784" cy="1145068"/>
            <a:chOff x="0" y="0"/>
            <a:chExt cx="23542379" cy="1526758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20E0873B-9A2A-D21E-6D49-EE51DADF8689}"/>
                </a:ext>
              </a:extLst>
            </p:cNvPr>
            <p:cNvGrpSpPr/>
            <p:nvPr/>
          </p:nvGrpSpPr>
          <p:grpSpPr>
            <a:xfrm>
              <a:off x="0" y="0"/>
              <a:ext cx="23542379" cy="1526758"/>
              <a:chOff x="0" y="0"/>
              <a:chExt cx="3633083" cy="235611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7BF4C2E8-8A19-117F-4ABB-B426D730F53E}"/>
                  </a:ext>
                </a:extLst>
              </p:cNvPr>
              <p:cNvSpPr/>
              <p:nvPr/>
            </p:nvSpPr>
            <p:spPr>
              <a:xfrm>
                <a:off x="0" y="0"/>
                <a:ext cx="3633083" cy="235611"/>
              </a:xfrm>
              <a:custGeom>
                <a:avLst/>
                <a:gdLst/>
                <a:ahLst/>
                <a:cxnLst/>
                <a:rect l="l" t="t" r="r" b="b"/>
                <a:pathLst>
                  <a:path w="3633083" h="235611">
                    <a:moveTo>
                      <a:pt x="8564" y="0"/>
                    </a:moveTo>
                    <a:lnTo>
                      <a:pt x="3624519" y="0"/>
                    </a:lnTo>
                    <a:cubicBezTo>
                      <a:pt x="3629249" y="0"/>
                      <a:pt x="3633083" y="3834"/>
                      <a:pt x="3633083" y="8564"/>
                    </a:cubicBezTo>
                    <a:lnTo>
                      <a:pt x="3633083" y="227047"/>
                    </a:lnTo>
                    <a:cubicBezTo>
                      <a:pt x="3633083" y="229318"/>
                      <a:pt x="3632181" y="231496"/>
                      <a:pt x="3630575" y="233102"/>
                    </a:cubicBezTo>
                    <a:cubicBezTo>
                      <a:pt x="3628969" y="234709"/>
                      <a:pt x="3626791" y="235611"/>
                      <a:pt x="3624519" y="235611"/>
                    </a:cubicBezTo>
                    <a:lnTo>
                      <a:pt x="8564" y="235611"/>
                    </a:lnTo>
                    <a:cubicBezTo>
                      <a:pt x="3834" y="235611"/>
                      <a:pt x="0" y="231777"/>
                      <a:pt x="0" y="227047"/>
                    </a:cubicBezTo>
                    <a:lnTo>
                      <a:pt x="0" y="8564"/>
                    </a:lnTo>
                    <a:cubicBezTo>
                      <a:pt x="0" y="3834"/>
                      <a:pt x="3834" y="0"/>
                      <a:pt x="8564" y="0"/>
                    </a:cubicBezTo>
                    <a:close/>
                  </a:path>
                </a:pathLst>
              </a:custGeom>
              <a:solidFill>
                <a:srgbClr val="86B49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B965C63A-6BF4-4844-0A40-59D73A40AF8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633083" cy="26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5751CC5-5CAC-076E-A506-55592DCA955E}"/>
                </a:ext>
              </a:extLst>
            </p:cNvPr>
            <p:cNvSpPr txBox="1"/>
            <p:nvPr/>
          </p:nvSpPr>
          <p:spPr>
            <a:xfrm>
              <a:off x="624116" y="292485"/>
              <a:ext cx="10147449" cy="974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92"/>
                </a:lnSpc>
                <a:spcBef>
                  <a:spcPct val="0"/>
                </a:spcBef>
              </a:pPr>
              <a:r>
                <a:rPr 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‘DX/AX’ </a:t>
              </a:r>
              <a:r>
                <a:rPr lang="ko-KR" alt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개념 </a:t>
              </a:r>
              <a:endParaRPr lang="en-US" sz="4066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endParaRPr>
            </a:p>
          </p:txBody>
        </p:sp>
      </p:grpSp>
      <p:pic>
        <p:nvPicPr>
          <p:cNvPr id="13" name="그림 12" descr="이미지=챗GPT">
            <a:extLst>
              <a:ext uri="{FF2B5EF4-FFF2-40B4-BE49-F238E27FC236}">
                <a16:creationId xmlns:a16="http://schemas.microsoft.com/office/drawing/2014/main" id="{ED311CDF-347F-291A-A345-09971887F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686" y="1728916"/>
            <a:ext cx="7649003" cy="7649003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7743072A-D8FD-C41B-B675-EDD3EF7410F4}"/>
              </a:ext>
            </a:extLst>
          </p:cNvPr>
          <p:cNvSpPr txBox="1"/>
          <p:nvPr/>
        </p:nvSpPr>
        <p:spPr>
          <a:xfrm>
            <a:off x="355419" y="1998489"/>
            <a:ext cx="9616565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ko-KR" sz="4000" dirty="0">
                <a:latin typeface="210 네버랜드" panose="020B0600000101010101" charset="-127"/>
                <a:ea typeface="210 네버랜드" panose="020B0600000101010101" charset="-127"/>
              </a:rPr>
              <a:t>DX(Data </a:t>
            </a:r>
            <a:r>
              <a:rPr lang="en-US" altLang="ko-KR" sz="4000" b="1" dirty="0">
                <a:latin typeface="210 네버랜드" panose="020B0600000101010101" charset="-127"/>
                <a:ea typeface="210 네버랜드" panose="020B0600000101010101" charset="-127"/>
              </a:rPr>
              <a:t>Transformation</a:t>
            </a:r>
            <a:r>
              <a:rPr lang="en-US" altLang="ko-KR" sz="4000" dirty="0">
                <a:latin typeface="210 네버랜드" panose="020B0600000101010101" charset="-127"/>
                <a:ea typeface="210 네버랜드" panose="020B0600000101010101" charset="-127"/>
              </a:rPr>
              <a:t>)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chemeClr val="bg2">
                    <a:lumMod val="5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“</a:t>
            </a:r>
            <a:r>
              <a:rPr lang="ko-KR" altLang="en-US" sz="4000" dirty="0">
                <a:solidFill>
                  <a:schemeClr val="bg2">
                    <a:lumMod val="5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데이터를 잘 보게 만들고</a:t>
            </a:r>
            <a:r>
              <a:rPr lang="en-US" altLang="ko-KR" sz="4000" dirty="0">
                <a:solidFill>
                  <a:schemeClr val="bg2">
                    <a:lumMod val="5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, </a:t>
            </a:r>
            <a:r>
              <a:rPr lang="ko-KR" altLang="en-US" sz="4000" dirty="0">
                <a:solidFill>
                  <a:schemeClr val="bg2">
                    <a:lumMod val="5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바로 행동하게 만드는 것”</a:t>
            </a:r>
            <a:endParaRPr lang="en-US" altLang="ko-KR" sz="4000" dirty="0">
              <a:solidFill>
                <a:schemeClr val="bg2">
                  <a:lumMod val="50000"/>
                </a:schemeClr>
              </a:solidFill>
              <a:latin typeface="210 네버랜드" panose="020B0600000101010101" charset="-127"/>
              <a:ea typeface="210 네버랜드" panose="020B0600000101010101" charset="-127"/>
            </a:endParaRP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ko-KR" altLang="en-US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예</a:t>
            </a:r>
            <a:r>
              <a:rPr lang="en-US" altLang="ko-KR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: </a:t>
            </a:r>
            <a:r>
              <a:rPr lang="ko-KR" altLang="en-US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대시보드</a:t>
            </a:r>
            <a:r>
              <a:rPr lang="en-US" altLang="ko-KR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, </a:t>
            </a:r>
            <a:r>
              <a:rPr lang="ko-KR" altLang="en-US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실시간 알림</a:t>
            </a:r>
            <a:r>
              <a:rPr lang="en-US" altLang="ko-KR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, </a:t>
            </a:r>
            <a:r>
              <a:rPr lang="ko-KR" altLang="en-US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데이터 기반 의사결정</a:t>
            </a:r>
            <a:r>
              <a:rPr lang="en-US" altLang="ko-KR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, </a:t>
            </a:r>
            <a:r>
              <a:rPr lang="ko-KR" altLang="en-US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리포트</a:t>
            </a:r>
            <a:endParaRPr lang="en-US" altLang="ko-KR" sz="4000" dirty="0">
              <a:solidFill>
                <a:schemeClr val="tx2">
                  <a:lumMod val="60000"/>
                  <a:lumOff val="40000"/>
                </a:schemeClr>
              </a:solidFill>
              <a:latin typeface="210 네버랜드" panose="020B0600000101010101" charset="-127"/>
              <a:ea typeface="210 네버랜드" panose="020B0600000101010101" charset="-127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en-US" altLang="ko-KR" sz="4000" dirty="0">
              <a:latin typeface="210 네버랜드" panose="020B0600000101010101" charset="-127"/>
              <a:ea typeface="210 네버랜드" panose="020B0600000101010101" charset="-127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altLang="ko-KR" sz="4000" b="1" dirty="0">
                <a:latin typeface="210 네버랜드" panose="020B0600000101010101" charset="-127"/>
                <a:ea typeface="210 네버랜드" panose="020B0600000101010101" charset="-127"/>
              </a:rPr>
              <a:t>AX(AI Transformation)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en-US" altLang="ko-KR" sz="4000" b="1" dirty="0">
                <a:solidFill>
                  <a:schemeClr val="bg2">
                    <a:lumMod val="5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“</a:t>
            </a:r>
            <a:r>
              <a:rPr lang="ko-KR" altLang="en-US" sz="4000" b="1" dirty="0">
                <a:solidFill>
                  <a:schemeClr val="bg2">
                    <a:lumMod val="5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사람이 하던 판단</a:t>
            </a:r>
            <a:r>
              <a:rPr lang="en-US" altLang="ko-KR" sz="4000" b="1" dirty="0">
                <a:solidFill>
                  <a:schemeClr val="bg2">
                    <a:lumMod val="5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·</a:t>
            </a:r>
            <a:r>
              <a:rPr lang="ko-KR" altLang="en-US" sz="4000" b="1" dirty="0">
                <a:solidFill>
                  <a:schemeClr val="bg2">
                    <a:lumMod val="5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작업을 </a:t>
            </a:r>
            <a:r>
              <a:rPr lang="en-US" altLang="ko-KR" sz="4000" b="1" dirty="0">
                <a:solidFill>
                  <a:schemeClr val="bg2">
                    <a:lumMod val="5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AI</a:t>
            </a:r>
            <a:r>
              <a:rPr lang="ko-KR" altLang="en-US" sz="4000" b="1" dirty="0">
                <a:solidFill>
                  <a:schemeClr val="bg2">
                    <a:lumMod val="5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가 대신하거나 도와주는 것</a:t>
            </a:r>
            <a:r>
              <a:rPr lang="ko-KR" altLang="en-US" sz="4000" dirty="0">
                <a:solidFill>
                  <a:schemeClr val="bg2">
                    <a:lumMod val="5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”</a:t>
            </a:r>
            <a:endParaRPr lang="en-US" altLang="ko-KR" sz="4000" dirty="0">
              <a:solidFill>
                <a:schemeClr val="bg2">
                  <a:lumMod val="50000"/>
                </a:schemeClr>
              </a:solidFill>
              <a:latin typeface="210 네버랜드" panose="020B0600000101010101" charset="-127"/>
              <a:ea typeface="210 네버랜드" panose="020B0600000101010101" charset="-127"/>
            </a:endParaRPr>
          </a:p>
          <a:p>
            <a:pPr marL="2228850" lvl="3" indent="-857250">
              <a:buFont typeface="Arial" panose="020B0604020202020204" pitchFamily="34" charset="0"/>
              <a:buChar char="•"/>
            </a:pPr>
            <a:r>
              <a:rPr lang="ko-KR" altLang="en-US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예</a:t>
            </a:r>
            <a:r>
              <a:rPr lang="en-US" altLang="ko-KR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: AI </a:t>
            </a:r>
            <a:r>
              <a:rPr lang="ko-KR" altLang="en-US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자동 분석</a:t>
            </a:r>
            <a:r>
              <a:rPr lang="en-US" altLang="ko-KR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, </a:t>
            </a:r>
            <a:br>
              <a:rPr lang="en-US" altLang="ko-KR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</a:br>
            <a:r>
              <a:rPr lang="ko-KR" altLang="en-US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업무 자동화 에이전트</a:t>
            </a:r>
            <a:r>
              <a:rPr lang="en-US" altLang="ko-KR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, </a:t>
            </a:r>
            <a:br>
              <a:rPr lang="en-US" altLang="ko-KR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</a:br>
            <a:r>
              <a:rPr lang="en-US" altLang="ko-KR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AI </a:t>
            </a:r>
            <a:r>
              <a:rPr lang="ko-KR" altLang="en-US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210 네버랜드" panose="020B0600000101010101" charset="-127"/>
                <a:ea typeface="210 네버랜드" panose="020B0600000101010101" charset="-127"/>
              </a:rPr>
              <a:t>의사결정 제안</a:t>
            </a:r>
            <a:endParaRPr lang="en-US" sz="4000" dirty="0">
              <a:solidFill>
                <a:schemeClr val="tx2">
                  <a:lumMod val="60000"/>
                  <a:lumOff val="40000"/>
                </a:schemeClr>
              </a:solidFill>
              <a:latin typeface="210 네버랜드" panose="020B0600000101010101" charset="-127"/>
              <a:ea typeface="210 네버랜드" panose="020B0600000101010101" charset="-127"/>
              <a:cs typeface="210 네버랜드"/>
              <a:sym typeface="210 네버랜드"/>
            </a:endParaRPr>
          </a:p>
        </p:txBody>
      </p:sp>
    </p:spTree>
    <p:extLst>
      <p:ext uri="{BB962C8B-B14F-4D97-AF65-F5344CB8AC3E}">
        <p14:creationId xmlns:p14="http://schemas.microsoft.com/office/powerpoint/2010/main" val="2719910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5797" y="303268"/>
            <a:ext cx="17656784" cy="1145068"/>
            <a:chOff x="0" y="0"/>
            <a:chExt cx="23542379" cy="152675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542379" cy="1526758"/>
              <a:chOff x="0" y="0"/>
              <a:chExt cx="3633083" cy="23561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633083" cy="235611"/>
              </a:xfrm>
              <a:custGeom>
                <a:avLst/>
                <a:gdLst/>
                <a:ahLst/>
                <a:cxnLst/>
                <a:rect l="l" t="t" r="r" b="b"/>
                <a:pathLst>
                  <a:path w="3633083" h="235611">
                    <a:moveTo>
                      <a:pt x="8564" y="0"/>
                    </a:moveTo>
                    <a:lnTo>
                      <a:pt x="3624519" y="0"/>
                    </a:lnTo>
                    <a:cubicBezTo>
                      <a:pt x="3629249" y="0"/>
                      <a:pt x="3633083" y="3834"/>
                      <a:pt x="3633083" y="8564"/>
                    </a:cubicBezTo>
                    <a:lnTo>
                      <a:pt x="3633083" y="227047"/>
                    </a:lnTo>
                    <a:cubicBezTo>
                      <a:pt x="3633083" y="229318"/>
                      <a:pt x="3632181" y="231496"/>
                      <a:pt x="3630575" y="233102"/>
                    </a:cubicBezTo>
                    <a:cubicBezTo>
                      <a:pt x="3628969" y="234709"/>
                      <a:pt x="3626791" y="235611"/>
                      <a:pt x="3624519" y="235611"/>
                    </a:cubicBezTo>
                    <a:lnTo>
                      <a:pt x="8564" y="235611"/>
                    </a:lnTo>
                    <a:cubicBezTo>
                      <a:pt x="3834" y="235611"/>
                      <a:pt x="0" y="231777"/>
                      <a:pt x="0" y="227047"/>
                    </a:cubicBezTo>
                    <a:lnTo>
                      <a:pt x="0" y="8564"/>
                    </a:lnTo>
                    <a:cubicBezTo>
                      <a:pt x="0" y="3834"/>
                      <a:pt x="3834" y="0"/>
                      <a:pt x="8564" y="0"/>
                    </a:cubicBezTo>
                    <a:close/>
                  </a:path>
                </a:pathLst>
              </a:custGeom>
              <a:solidFill>
                <a:srgbClr val="86B49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3633083" cy="26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624116" y="292485"/>
              <a:ext cx="20530057" cy="890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92"/>
                </a:lnSpc>
                <a:spcBef>
                  <a:spcPct val="0"/>
                </a:spcBef>
              </a:pPr>
              <a:r>
                <a:rPr lang="en-US" sz="4066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실제 사례로 알아보기 1 - 담당자가 없는 건 무서워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295339" y="4006172"/>
            <a:ext cx="2336544" cy="2336544"/>
          </a:xfrm>
          <a:custGeom>
            <a:avLst/>
            <a:gdLst/>
            <a:ahLst/>
            <a:cxnLst/>
            <a:rect l="l" t="t" r="r" b="b"/>
            <a:pathLst>
              <a:path w="2336544" h="2336544">
                <a:moveTo>
                  <a:pt x="0" y="0"/>
                </a:moveTo>
                <a:lnTo>
                  <a:pt x="2336544" y="0"/>
                </a:lnTo>
                <a:lnTo>
                  <a:pt x="2336544" y="2336544"/>
                </a:lnTo>
                <a:lnTo>
                  <a:pt x="0" y="2336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14922756" y="7325573"/>
            <a:ext cx="2336544" cy="2336544"/>
          </a:xfrm>
          <a:custGeom>
            <a:avLst/>
            <a:gdLst/>
            <a:ahLst/>
            <a:cxnLst/>
            <a:rect l="l" t="t" r="r" b="b"/>
            <a:pathLst>
              <a:path w="2336544" h="2336544">
                <a:moveTo>
                  <a:pt x="0" y="0"/>
                </a:moveTo>
                <a:lnTo>
                  <a:pt x="2336544" y="0"/>
                </a:lnTo>
                <a:lnTo>
                  <a:pt x="2336544" y="2336544"/>
                </a:lnTo>
                <a:lnTo>
                  <a:pt x="0" y="2336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521201" y="1796099"/>
            <a:ext cx="10846843" cy="49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  <a:spcBef>
                <a:spcPct val="0"/>
              </a:spcBef>
            </a:pPr>
            <a:r>
              <a:rPr lang="en-US" sz="2864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사례1. 마케팅 담당자 부재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5797" y="2612447"/>
            <a:ext cx="3575346" cy="78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9"/>
              </a:lnSpc>
              <a:spcBef>
                <a:spcPct val="0"/>
              </a:spcBef>
            </a:pPr>
            <a:r>
              <a:rPr lang="en-US" sz="4592">
                <a:solidFill>
                  <a:srgbClr val="004AAD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문제 정의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51144" y="2645656"/>
            <a:ext cx="12249539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박진영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차장님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장기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휴가</a:t>
            </a:r>
            <a:r>
              <a:rPr lang="en-US" sz="4399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!!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16055" y="3920447"/>
            <a:ext cx="10991255" cy="254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남아있는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인력에게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단순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,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반복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업무를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모두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인수인계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하느니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그냥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휴가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기간동안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내가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처리하는게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낫다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휴가때문에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안그래도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바쁜데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인수인계할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시간이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없다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27765" y="7115132"/>
            <a:ext cx="10826502" cy="320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송파삼전점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7천만원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미션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기한이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촉박하다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.</a:t>
            </a:r>
          </a:p>
          <a:p>
            <a:pPr algn="r">
              <a:lnSpc>
                <a:spcPts val="5040"/>
              </a:lnSpc>
            </a:pP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당장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온라인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광고를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집행해야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한다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. </a:t>
            </a:r>
          </a:p>
          <a:p>
            <a:pPr algn="r">
              <a:lnSpc>
                <a:spcPts val="5040"/>
              </a:lnSpc>
            </a:pP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근데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어떻게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? </a:t>
            </a:r>
          </a:p>
          <a:p>
            <a:pPr algn="r">
              <a:lnSpc>
                <a:spcPts val="5040"/>
              </a:lnSpc>
              <a:spcBef>
                <a:spcPct val="0"/>
              </a:spcBef>
            </a:pP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어쩔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수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없다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.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휴가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중인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박차장님께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이것만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부탁하자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5797" y="303268"/>
            <a:ext cx="17656784" cy="1145068"/>
            <a:chOff x="0" y="0"/>
            <a:chExt cx="23542379" cy="152675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542379" cy="1526758"/>
              <a:chOff x="0" y="0"/>
              <a:chExt cx="3633083" cy="23561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633083" cy="235611"/>
              </a:xfrm>
              <a:custGeom>
                <a:avLst/>
                <a:gdLst/>
                <a:ahLst/>
                <a:cxnLst/>
                <a:rect l="l" t="t" r="r" b="b"/>
                <a:pathLst>
                  <a:path w="3633083" h="235611">
                    <a:moveTo>
                      <a:pt x="8564" y="0"/>
                    </a:moveTo>
                    <a:lnTo>
                      <a:pt x="3624519" y="0"/>
                    </a:lnTo>
                    <a:cubicBezTo>
                      <a:pt x="3629249" y="0"/>
                      <a:pt x="3633083" y="3834"/>
                      <a:pt x="3633083" y="8564"/>
                    </a:cubicBezTo>
                    <a:lnTo>
                      <a:pt x="3633083" y="227047"/>
                    </a:lnTo>
                    <a:cubicBezTo>
                      <a:pt x="3633083" y="229318"/>
                      <a:pt x="3632181" y="231496"/>
                      <a:pt x="3630575" y="233102"/>
                    </a:cubicBezTo>
                    <a:cubicBezTo>
                      <a:pt x="3628969" y="234709"/>
                      <a:pt x="3626791" y="235611"/>
                      <a:pt x="3624519" y="235611"/>
                    </a:cubicBezTo>
                    <a:lnTo>
                      <a:pt x="8564" y="235611"/>
                    </a:lnTo>
                    <a:cubicBezTo>
                      <a:pt x="3834" y="235611"/>
                      <a:pt x="0" y="231777"/>
                      <a:pt x="0" y="227047"/>
                    </a:cubicBezTo>
                    <a:lnTo>
                      <a:pt x="0" y="8564"/>
                    </a:lnTo>
                    <a:cubicBezTo>
                      <a:pt x="0" y="3834"/>
                      <a:pt x="3834" y="0"/>
                      <a:pt x="8564" y="0"/>
                    </a:cubicBezTo>
                    <a:close/>
                  </a:path>
                </a:pathLst>
              </a:custGeom>
              <a:solidFill>
                <a:srgbClr val="86B49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3633083" cy="26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624116" y="292485"/>
              <a:ext cx="20530057" cy="890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92"/>
                </a:lnSpc>
                <a:spcBef>
                  <a:spcPct val="0"/>
                </a:spcBef>
              </a:pPr>
              <a:r>
                <a:rPr lang="en-US" sz="4066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실제 사례로 알아보기 1 - 담당자가 없는 건 무서워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961597" y="3073978"/>
            <a:ext cx="12687908" cy="78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9"/>
              </a:lnSpc>
              <a:spcBef>
                <a:spcPct val="0"/>
              </a:spcBef>
            </a:pPr>
            <a:r>
              <a:rPr lang="en-US" sz="4592">
                <a:solidFill>
                  <a:srgbClr val="004AAD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박차장님도, 이사님도 모두가 여유로워집니다.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1760203"/>
            <a:ext cx="3580283" cy="3076646"/>
            <a:chOff x="0" y="0"/>
            <a:chExt cx="4773710" cy="4102195"/>
          </a:xfrm>
        </p:grpSpPr>
        <p:sp>
          <p:nvSpPr>
            <p:cNvPr id="9" name="Freeform 9"/>
            <p:cNvSpPr/>
            <p:nvPr/>
          </p:nvSpPr>
          <p:spPr>
            <a:xfrm>
              <a:off x="0" y="1060606"/>
              <a:ext cx="4773710" cy="3041590"/>
            </a:xfrm>
            <a:custGeom>
              <a:avLst/>
              <a:gdLst/>
              <a:ahLst/>
              <a:cxnLst/>
              <a:rect l="l" t="t" r="r" b="b"/>
              <a:pathLst>
                <a:path w="4773710" h="3041590">
                  <a:moveTo>
                    <a:pt x="0" y="0"/>
                  </a:moveTo>
                  <a:lnTo>
                    <a:pt x="4773710" y="0"/>
                  </a:lnTo>
                  <a:lnTo>
                    <a:pt x="4773710" y="3041589"/>
                  </a:lnTo>
                  <a:lnTo>
                    <a:pt x="0" y="304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736" b="-2721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512301" y="0"/>
              <a:ext cx="1749108" cy="1609179"/>
            </a:xfrm>
            <a:custGeom>
              <a:avLst/>
              <a:gdLst/>
              <a:ahLst/>
              <a:cxnLst/>
              <a:rect l="l" t="t" r="r" b="b"/>
              <a:pathLst>
                <a:path w="1749108" h="1609179">
                  <a:moveTo>
                    <a:pt x="0" y="0"/>
                  </a:moveTo>
                  <a:lnTo>
                    <a:pt x="1749108" y="0"/>
                  </a:lnTo>
                  <a:lnTo>
                    <a:pt x="1749108" y="1609179"/>
                  </a:lnTo>
                  <a:lnTo>
                    <a:pt x="0" y="1609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30400" y="5573571"/>
            <a:ext cx="8902182" cy="4000498"/>
            <a:chOff x="0" y="0"/>
            <a:chExt cx="11869576" cy="533399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1869576" cy="5333997"/>
              <a:chOff x="0" y="0"/>
              <a:chExt cx="1326397" cy="59606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326397" cy="596062"/>
              </a:xfrm>
              <a:custGeom>
                <a:avLst/>
                <a:gdLst/>
                <a:ahLst/>
                <a:cxnLst/>
                <a:rect l="l" t="t" r="r" b="b"/>
                <a:pathLst>
                  <a:path w="1326397" h="596062">
                    <a:moveTo>
                      <a:pt x="12210" y="0"/>
                    </a:moveTo>
                    <a:lnTo>
                      <a:pt x="1314188" y="0"/>
                    </a:lnTo>
                    <a:cubicBezTo>
                      <a:pt x="1317426" y="0"/>
                      <a:pt x="1320532" y="1286"/>
                      <a:pt x="1322821" y="3576"/>
                    </a:cubicBezTo>
                    <a:cubicBezTo>
                      <a:pt x="1325111" y="5866"/>
                      <a:pt x="1326397" y="8971"/>
                      <a:pt x="1326397" y="12210"/>
                    </a:cubicBezTo>
                    <a:lnTo>
                      <a:pt x="1326397" y="583852"/>
                    </a:lnTo>
                    <a:cubicBezTo>
                      <a:pt x="1326397" y="587090"/>
                      <a:pt x="1325111" y="590196"/>
                      <a:pt x="1322821" y="592486"/>
                    </a:cubicBezTo>
                    <a:cubicBezTo>
                      <a:pt x="1320532" y="594775"/>
                      <a:pt x="1317426" y="596062"/>
                      <a:pt x="1314188" y="596062"/>
                    </a:cubicBezTo>
                    <a:lnTo>
                      <a:pt x="12210" y="596062"/>
                    </a:lnTo>
                    <a:cubicBezTo>
                      <a:pt x="8971" y="596062"/>
                      <a:pt x="5866" y="594775"/>
                      <a:pt x="3576" y="592486"/>
                    </a:cubicBezTo>
                    <a:cubicBezTo>
                      <a:pt x="1286" y="590196"/>
                      <a:pt x="0" y="587090"/>
                      <a:pt x="0" y="583852"/>
                    </a:cubicBezTo>
                    <a:lnTo>
                      <a:pt x="0" y="12210"/>
                    </a:lnTo>
                    <a:cubicBezTo>
                      <a:pt x="0" y="8971"/>
                      <a:pt x="1286" y="5866"/>
                      <a:pt x="3576" y="3576"/>
                    </a:cubicBezTo>
                    <a:cubicBezTo>
                      <a:pt x="5866" y="1286"/>
                      <a:pt x="8971" y="0"/>
                      <a:pt x="1221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1326397" cy="624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178852" y="456308"/>
              <a:ext cx="5802355" cy="892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34"/>
                </a:lnSpc>
                <a:spcBef>
                  <a:spcPct val="0"/>
                </a:spcBef>
              </a:pPr>
              <a:r>
                <a:rPr lang="en-US" sz="3953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AI 질문 예시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9677" y="2402004"/>
              <a:ext cx="11200705" cy="1891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24"/>
                </a:lnSpc>
              </a:pPr>
              <a:r>
                <a:rPr lang="en-US" sz="273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“홀 가맹점 온라인 광고 운영 집행할 수 있도록</a:t>
              </a:r>
            </a:p>
            <a:p>
              <a:pPr algn="ctr">
                <a:lnSpc>
                  <a:spcPts val="3824"/>
                </a:lnSpc>
              </a:pPr>
              <a:r>
                <a:rPr lang="en-US" sz="273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진행중인 광고 조건 정리해주고,</a:t>
              </a:r>
            </a:p>
            <a:p>
              <a:pPr algn="ctr">
                <a:lnSpc>
                  <a:spcPts val="3824"/>
                </a:lnSpc>
                <a:spcBef>
                  <a:spcPct val="0"/>
                </a:spcBef>
              </a:pPr>
              <a:r>
                <a:rPr lang="en-US" sz="273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인스타그램 메타 광고 등록 방법 및 유의사항 알려줘“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28" y="5573571"/>
            <a:ext cx="8827226" cy="4087867"/>
            <a:chOff x="0" y="0"/>
            <a:chExt cx="11769635" cy="5450489"/>
          </a:xfrm>
        </p:grpSpPr>
        <p:grpSp>
          <p:nvGrpSpPr>
            <p:cNvPr id="18" name="Group 18"/>
            <p:cNvGrpSpPr/>
            <p:nvPr/>
          </p:nvGrpSpPr>
          <p:grpSpPr>
            <a:xfrm>
              <a:off x="481877" y="0"/>
              <a:ext cx="11032970" cy="5450489"/>
              <a:chOff x="0" y="0"/>
              <a:chExt cx="1208911" cy="59722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08911" cy="597224"/>
              </a:xfrm>
              <a:custGeom>
                <a:avLst/>
                <a:gdLst/>
                <a:ahLst/>
                <a:cxnLst/>
                <a:rect l="l" t="t" r="r" b="b"/>
                <a:pathLst>
                  <a:path w="1208911" h="597224">
                    <a:moveTo>
                      <a:pt x="15912" y="0"/>
                    </a:moveTo>
                    <a:lnTo>
                      <a:pt x="1192999" y="0"/>
                    </a:lnTo>
                    <a:cubicBezTo>
                      <a:pt x="1201787" y="0"/>
                      <a:pt x="1208911" y="7124"/>
                      <a:pt x="1208911" y="15912"/>
                    </a:cubicBezTo>
                    <a:lnTo>
                      <a:pt x="1208911" y="581312"/>
                    </a:lnTo>
                    <a:cubicBezTo>
                      <a:pt x="1208911" y="585532"/>
                      <a:pt x="1207235" y="589579"/>
                      <a:pt x="1204251" y="592564"/>
                    </a:cubicBezTo>
                    <a:cubicBezTo>
                      <a:pt x="1201267" y="595548"/>
                      <a:pt x="1197219" y="597224"/>
                      <a:pt x="1192999" y="597224"/>
                    </a:cubicBezTo>
                    <a:lnTo>
                      <a:pt x="15912" y="597224"/>
                    </a:lnTo>
                    <a:cubicBezTo>
                      <a:pt x="11692" y="597224"/>
                      <a:pt x="7645" y="595548"/>
                      <a:pt x="4661" y="592564"/>
                    </a:cubicBezTo>
                    <a:cubicBezTo>
                      <a:pt x="1676" y="589579"/>
                      <a:pt x="0" y="585532"/>
                      <a:pt x="0" y="581312"/>
                    </a:cubicBezTo>
                    <a:lnTo>
                      <a:pt x="0" y="15912"/>
                    </a:lnTo>
                    <a:cubicBezTo>
                      <a:pt x="0" y="11692"/>
                      <a:pt x="1676" y="7645"/>
                      <a:pt x="4661" y="4661"/>
                    </a:cubicBezTo>
                    <a:cubicBezTo>
                      <a:pt x="7645" y="1676"/>
                      <a:pt x="11692" y="0"/>
                      <a:pt x="1591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1208911" cy="625799"/>
              </a:xfrm>
              <a:prstGeom prst="rect">
                <a:avLst/>
              </a:prstGeom>
            </p:spPr>
            <p:txBody>
              <a:bodyPr lIns="44065" tIns="44065" rIns="44065" bIns="44065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2367874"/>
              <a:ext cx="11769635" cy="2174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93"/>
                </a:lnSpc>
              </a:pPr>
              <a:r>
                <a:rPr lang="en-US" sz="3138" dirty="0" err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운영</a:t>
              </a:r>
              <a:r>
                <a:rPr lang="en-US" sz="3138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 </a:t>
              </a:r>
              <a:r>
                <a:rPr lang="en-US" sz="3138" dirty="0" err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자료가</a:t>
              </a:r>
              <a:r>
                <a:rPr lang="en-US" sz="3138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 </a:t>
              </a:r>
            </a:p>
            <a:p>
              <a:pPr algn="ctr">
                <a:lnSpc>
                  <a:spcPts val="4393"/>
                </a:lnSpc>
              </a:pPr>
              <a:r>
                <a:rPr lang="en-US" sz="3138" dirty="0" err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템플릿</a:t>
              </a:r>
              <a:r>
                <a:rPr lang="en-US" sz="3138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 </a:t>
              </a:r>
              <a:r>
                <a:rPr lang="en-US" sz="3138" dirty="0" err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또는</a:t>
              </a:r>
              <a:r>
                <a:rPr lang="en-US" sz="3138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 </a:t>
              </a:r>
              <a:r>
                <a:rPr lang="en-US" sz="3138" dirty="0" err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매뉴얼에</a:t>
              </a:r>
              <a:r>
                <a:rPr lang="en-US" sz="3138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 </a:t>
              </a:r>
              <a:r>
                <a:rPr lang="en-US" sz="3138" dirty="0" err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따라</a:t>
              </a:r>
              <a:r>
                <a:rPr lang="en-US" sz="3138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 </a:t>
              </a:r>
              <a:r>
                <a:rPr lang="en-US" sz="3138" dirty="0" err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정리되어</a:t>
              </a:r>
              <a:r>
                <a:rPr lang="en-US" sz="3138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 </a:t>
              </a:r>
              <a:r>
                <a:rPr lang="en-US" sz="3138" dirty="0" err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있어</a:t>
              </a:r>
              <a:endParaRPr lang="en-US" sz="3138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endParaRPr>
            </a:p>
            <a:p>
              <a:pPr algn="ctr">
                <a:lnSpc>
                  <a:spcPts val="4393"/>
                </a:lnSpc>
                <a:spcBef>
                  <a:spcPct val="0"/>
                </a:spcBef>
              </a:pPr>
              <a:r>
                <a:rPr lang="en-US" sz="3138" dirty="0" err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현황파악이</a:t>
              </a:r>
              <a:r>
                <a:rPr lang="en-US" sz="3138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 </a:t>
              </a:r>
              <a:r>
                <a:rPr lang="en-US" sz="3138" dirty="0" err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가능</a:t>
              </a:r>
              <a:endParaRPr lang="en-US" sz="3138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9822" y="517211"/>
              <a:ext cx="6097080" cy="100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16"/>
                </a:lnSpc>
                <a:spcBef>
                  <a:spcPct val="0"/>
                </a:spcBef>
              </a:pPr>
              <a:r>
                <a:rPr lang="en-US" sz="451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DX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9FBAA-9E34-E971-4CA8-F18168436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6E893D-E376-EC3E-3A16-54019319DCFC}"/>
              </a:ext>
            </a:extLst>
          </p:cNvPr>
          <p:cNvGrpSpPr/>
          <p:nvPr/>
        </p:nvGrpSpPr>
        <p:grpSpPr>
          <a:xfrm>
            <a:off x="275797" y="303268"/>
            <a:ext cx="17656784" cy="1145068"/>
            <a:chOff x="0" y="0"/>
            <a:chExt cx="23542379" cy="1526758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863D4F3-0309-976A-2504-3BFC130A14D1}"/>
                </a:ext>
              </a:extLst>
            </p:cNvPr>
            <p:cNvGrpSpPr/>
            <p:nvPr/>
          </p:nvGrpSpPr>
          <p:grpSpPr>
            <a:xfrm>
              <a:off x="0" y="0"/>
              <a:ext cx="23542379" cy="1526758"/>
              <a:chOff x="0" y="0"/>
              <a:chExt cx="3633083" cy="235611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363E7BDB-8A58-ED0E-CCF7-4561FF113740}"/>
                  </a:ext>
                </a:extLst>
              </p:cNvPr>
              <p:cNvSpPr/>
              <p:nvPr/>
            </p:nvSpPr>
            <p:spPr>
              <a:xfrm>
                <a:off x="0" y="0"/>
                <a:ext cx="3633083" cy="235611"/>
              </a:xfrm>
              <a:custGeom>
                <a:avLst/>
                <a:gdLst/>
                <a:ahLst/>
                <a:cxnLst/>
                <a:rect l="l" t="t" r="r" b="b"/>
                <a:pathLst>
                  <a:path w="3633083" h="235611">
                    <a:moveTo>
                      <a:pt x="8564" y="0"/>
                    </a:moveTo>
                    <a:lnTo>
                      <a:pt x="3624519" y="0"/>
                    </a:lnTo>
                    <a:cubicBezTo>
                      <a:pt x="3629249" y="0"/>
                      <a:pt x="3633083" y="3834"/>
                      <a:pt x="3633083" y="8564"/>
                    </a:cubicBezTo>
                    <a:lnTo>
                      <a:pt x="3633083" y="227047"/>
                    </a:lnTo>
                    <a:cubicBezTo>
                      <a:pt x="3633083" y="229318"/>
                      <a:pt x="3632181" y="231496"/>
                      <a:pt x="3630575" y="233102"/>
                    </a:cubicBezTo>
                    <a:cubicBezTo>
                      <a:pt x="3628969" y="234709"/>
                      <a:pt x="3626791" y="235611"/>
                      <a:pt x="3624519" y="235611"/>
                    </a:cubicBezTo>
                    <a:lnTo>
                      <a:pt x="8564" y="235611"/>
                    </a:lnTo>
                    <a:cubicBezTo>
                      <a:pt x="3834" y="235611"/>
                      <a:pt x="0" y="231777"/>
                      <a:pt x="0" y="227047"/>
                    </a:cubicBezTo>
                    <a:lnTo>
                      <a:pt x="0" y="8564"/>
                    </a:lnTo>
                    <a:cubicBezTo>
                      <a:pt x="0" y="3834"/>
                      <a:pt x="3834" y="0"/>
                      <a:pt x="8564" y="0"/>
                    </a:cubicBezTo>
                    <a:close/>
                  </a:path>
                </a:pathLst>
              </a:custGeom>
              <a:solidFill>
                <a:srgbClr val="86B49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6D28E6AF-12A1-994F-5059-FEA90906F34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633083" cy="26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7C5CD1A-A63B-D3DC-8733-3836A947057E}"/>
                </a:ext>
              </a:extLst>
            </p:cNvPr>
            <p:cNvSpPr txBox="1"/>
            <p:nvPr/>
          </p:nvSpPr>
          <p:spPr>
            <a:xfrm>
              <a:off x="624116" y="292485"/>
              <a:ext cx="22274555" cy="9395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692"/>
                </a:lnSpc>
                <a:spcBef>
                  <a:spcPct val="0"/>
                </a:spcBef>
              </a:pPr>
              <a:r>
                <a:rPr lang="en-US" sz="4066" dirty="0" err="1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실제</a:t>
              </a:r>
              <a:r>
                <a:rPr lang="en-US" sz="4066" dirty="0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 </a:t>
              </a:r>
              <a:r>
                <a:rPr lang="en-US" sz="4066" dirty="0" err="1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사례로</a:t>
              </a:r>
              <a:r>
                <a:rPr lang="en-US" sz="4066" dirty="0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 </a:t>
              </a:r>
              <a:r>
                <a:rPr lang="en-US" sz="4066" dirty="0" err="1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알아보기</a:t>
              </a:r>
              <a:r>
                <a:rPr lang="en-US" sz="4066" dirty="0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 2 – </a:t>
              </a:r>
              <a:r>
                <a:rPr lang="ko-KR" altLang="en-US" sz="3600" dirty="0">
                  <a:latin typeface="210 네버랜드" panose="020B0600000101010101" charset="-127"/>
                  <a:ea typeface="210 네버랜드" panose="020B0600000101010101" charset="-127"/>
                </a:rPr>
                <a:t>영업관리 업무의 숨은 비효율 방문일지 작성 문제</a:t>
              </a:r>
              <a:endParaRPr lang="en-US" sz="4066" dirty="0">
                <a:solidFill>
                  <a:srgbClr val="000000"/>
                </a:solidFill>
                <a:latin typeface="210 네버랜드" panose="020B0600000101010101" charset="-127"/>
                <a:ea typeface="210 네버랜드" panose="020B0600000101010101" charset="-127"/>
                <a:cs typeface="210 네버랜드"/>
                <a:sym typeface="210 네버랜드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BC24C872-890E-9780-F9A5-610941CB514F}"/>
              </a:ext>
            </a:extLst>
          </p:cNvPr>
          <p:cNvSpPr txBox="1"/>
          <p:nvPr/>
        </p:nvSpPr>
        <p:spPr>
          <a:xfrm>
            <a:off x="1521201" y="1796099"/>
            <a:ext cx="10846843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  <a:spcBef>
                <a:spcPct val="0"/>
              </a:spcBef>
            </a:pPr>
            <a:r>
              <a:rPr lang="en-US" sz="2864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사례2. </a:t>
            </a:r>
            <a:r>
              <a:rPr lang="ko-KR" altLang="en-US" sz="2864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영업관리부 방문일지 작성</a:t>
            </a:r>
            <a:endParaRPr lang="en-US" sz="2864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BF46EDA-36DB-EC2E-A1F4-CED75741A33F}"/>
              </a:ext>
            </a:extLst>
          </p:cNvPr>
          <p:cNvSpPr txBox="1"/>
          <p:nvPr/>
        </p:nvSpPr>
        <p:spPr>
          <a:xfrm>
            <a:off x="275797" y="2612447"/>
            <a:ext cx="357534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9"/>
              </a:lnSpc>
              <a:spcBef>
                <a:spcPct val="0"/>
              </a:spcBef>
            </a:pPr>
            <a:r>
              <a:rPr lang="ko-KR" altLang="en-US" sz="4592" dirty="0">
                <a:solidFill>
                  <a:srgbClr val="004AAD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문제 정의</a:t>
            </a:r>
            <a:endParaRPr lang="en-US" sz="4592" dirty="0">
              <a:solidFill>
                <a:srgbClr val="004AAD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F2AF25D-E974-E661-8F10-83D3BF308BDB}"/>
              </a:ext>
            </a:extLst>
          </p:cNvPr>
          <p:cNvSpPr txBox="1"/>
          <p:nvPr/>
        </p:nvSpPr>
        <p:spPr>
          <a:xfrm>
            <a:off x="3851144" y="2645656"/>
            <a:ext cx="12249539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59"/>
              </a:lnSpc>
              <a:spcBef>
                <a:spcPct val="0"/>
              </a:spcBef>
            </a:pPr>
            <a:r>
              <a:rPr lang="ko-KR" altLang="en-US" sz="44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방문일지 작성 시간 및 오류 발생</a:t>
            </a:r>
            <a:endParaRPr lang="en-US" sz="4399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D3F1539-D04B-4900-7BAB-BD449FEC3D26}"/>
              </a:ext>
            </a:extLst>
          </p:cNvPr>
          <p:cNvSpPr txBox="1"/>
          <p:nvPr/>
        </p:nvSpPr>
        <p:spPr>
          <a:xfrm>
            <a:off x="3916055" y="3920447"/>
            <a:ext cx="10991255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altLang="ko-KR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1. A</a:t>
            </a: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매장을 방문하고</a:t>
            </a:r>
            <a:r>
              <a:rPr lang="en-US" altLang="ko-KR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</a:t>
            </a: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기억에 의존해 방문일지 를 작성</a:t>
            </a:r>
            <a:endParaRPr lang="en-US" sz="36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altLang="ko-KR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2. </a:t>
            </a: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기억이 </a:t>
            </a:r>
            <a:r>
              <a:rPr lang="ko-KR" altLang="en-US" sz="3600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안나거나</a:t>
            </a: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기억 오류 발생</a:t>
            </a:r>
            <a:endParaRPr lang="en-US" altLang="ko-KR" sz="36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altLang="ko-KR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3. </a:t>
            </a: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일지내용 오류 발생 및 작성시간이 소요됨</a:t>
            </a:r>
            <a:endParaRPr lang="en-US" altLang="ko-KR" sz="36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A94955-5E3C-46B9-3B6A-4BEF78DCD567}"/>
              </a:ext>
            </a:extLst>
          </p:cNvPr>
          <p:cNvSpPr txBox="1"/>
          <p:nvPr/>
        </p:nvSpPr>
        <p:spPr>
          <a:xfrm>
            <a:off x="4572000" y="496192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228596-5C67-5F62-7D49-2829E3C45017}"/>
              </a:ext>
            </a:extLst>
          </p:cNvPr>
          <p:cNvSpPr txBox="1"/>
          <p:nvPr/>
        </p:nvSpPr>
        <p:spPr>
          <a:xfrm>
            <a:off x="4524842" y="501818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ED3525C-7159-5124-99F5-67FD13BDDF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18" y="3794635"/>
            <a:ext cx="1970903" cy="1970903"/>
          </a:xfrm>
          <a:prstGeom prst="rect">
            <a:avLst/>
          </a:prstGeom>
        </p:spPr>
      </p:pic>
      <p:pic>
        <p:nvPicPr>
          <p:cNvPr id="30" name="그림 29" descr="온라인 매장 - 무료 상업개 아이콘">
            <a:extLst>
              <a:ext uri="{FF2B5EF4-FFF2-40B4-BE49-F238E27FC236}">
                <a16:creationId xmlns:a16="http://schemas.microsoft.com/office/drawing/2014/main" id="{7E605C9C-E083-3A3F-61C8-6FC15478E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342" y="6372731"/>
            <a:ext cx="2895601" cy="2895601"/>
          </a:xfrm>
          <a:prstGeom prst="rect">
            <a:avLst/>
          </a:prstGeom>
        </p:spPr>
      </p:pic>
      <p:pic>
        <p:nvPicPr>
          <p:cNvPr id="31" name="그림 30" descr="작성 양식 - 무료 연락개 아이콘">
            <a:extLst>
              <a:ext uri="{FF2B5EF4-FFF2-40B4-BE49-F238E27FC236}">
                <a16:creationId xmlns:a16="http://schemas.microsoft.com/office/drawing/2014/main" id="{DFD0F7D2-9ABB-D8BC-87D1-49CD4C7B0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6247065"/>
            <a:ext cx="3024356" cy="3024356"/>
          </a:xfrm>
          <a:prstGeom prst="rect">
            <a:avLst/>
          </a:prstGeom>
        </p:spPr>
      </p:pic>
      <p:pic>
        <p:nvPicPr>
          <p:cNvPr id="52" name="그림 51" descr="Time And Date Clock Icon | Ios 7 Iconset | PNG Transparent Background, Free  Download #10761 - FreeIconsPNG">
            <a:extLst>
              <a:ext uri="{FF2B5EF4-FFF2-40B4-BE49-F238E27FC236}">
                <a16:creationId xmlns:a16="http://schemas.microsoft.com/office/drawing/2014/main" id="{904C6FC7-10CD-8875-D06A-5011CB76F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0613" y="6388177"/>
            <a:ext cx="2609100" cy="2609100"/>
          </a:xfrm>
          <a:prstGeom prst="rect">
            <a:avLst/>
          </a:prstGeom>
        </p:spPr>
      </p:pic>
      <p:sp>
        <p:nvSpPr>
          <p:cNvPr id="53" name="TextBox 7">
            <a:extLst>
              <a:ext uri="{FF2B5EF4-FFF2-40B4-BE49-F238E27FC236}">
                <a16:creationId xmlns:a16="http://schemas.microsoft.com/office/drawing/2014/main" id="{24485E2C-025F-D8E3-8357-F4C8D40FF43F}"/>
              </a:ext>
            </a:extLst>
          </p:cNvPr>
          <p:cNvSpPr txBox="1"/>
          <p:nvPr/>
        </p:nvSpPr>
        <p:spPr>
          <a:xfrm>
            <a:off x="2655540" y="8943069"/>
            <a:ext cx="2391203" cy="948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매장방문</a:t>
            </a:r>
            <a:endParaRPr lang="en-US" sz="36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sp>
        <p:nvSpPr>
          <p:cNvPr id="54" name="TextBox 7">
            <a:extLst>
              <a:ext uri="{FF2B5EF4-FFF2-40B4-BE49-F238E27FC236}">
                <a16:creationId xmlns:a16="http://schemas.microsoft.com/office/drawing/2014/main" id="{BE924DC6-370A-FEF2-3C47-9191B966E41E}"/>
              </a:ext>
            </a:extLst>
          </p:cNvPr>
          <p:cNvSpPr txBox="1"/>
          <p:nvPr/>
        </p:nvSpPr>
        <p:spPr>
          <a:xfrm>
            <a:off x="6477000" y="8976916"/>
            <a:ext cx="4549346" cy="917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ko-KR" altLang="en-US" sz="360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기억에 의존해 작성</a:t>
            </a:r>
            <a:endParaRPr lang="en-US" sz="36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D4840ADA-BA5B-9657-C499-969903872F0B}"/>
              </a:ext>
            </a:extLst>
          </p:cNvPr>
          <p:cNvSpPr txBox="1"/>
          <p:nvPr/>
        </p:nvSpPr>
        <p:spPr>
          <a:xfrm>
            <a:off x="11690490" y="8952982"/>
            <a:ext cx="4549346" cy="917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내용 누락 및 시간증가</a:t>
            </a:r>
            <a:endParaRPr lang="en-US" sz="36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</p:spTree>
    <p:extLst>
      <p:ext uri="{BB962C8B-B14F-4D97-AF65-F5344CB8AC3E}">
        <p14:creationId xmlns:p14="http://schemas.microsoft.com/office/powerpoint/2010/main" val="90049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C1E14-7C1A-588E-B8F3-C00C8929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54907321-8EFC-20A5-AA4F-5BB815B8A805}"/>
              </a:ext>
            </a:extLst>
          </p:cNvPr>
          <p:cNvSpPr txBox="1"/>
          <p:nvPr/>
        </p:nvSpPr>
        <p:spPr>
          <a:xfrm>
            <a:off x="1521201" y="1796099"/>
            <a:ext cx="10846843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  <a:spcBef>
                <a:spcPct val="0"/>
              </a:spcBef>
            </a:pPr>
            <a:r>
              <a:rPr lang="en-US" sz="2864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사례2. </a:t>
            </a:r>
            <a:r>
              <a:rPr lang="ko-KR" altLang="en-US" sz="2864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영업관리부 방문일지 작성</a:t>
            </a:r>
            <a:endParaRPr lang="en-US" sz="2864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C892F1E-A76E-A110-B72E-A633B95CDB16}"/>
              </a:ext>
            </a:extLst>
          </p:cNvPr>
          <p:cNvSpPr txBox="1"/>
          <p:nvPr/>
        </p:nvSpPr>
        <p:spPr>
          <a:xfrm>
            <a:off x="275797" y="2612447"/>
            <a:ext cx="357534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9"/>
              </a:lnSpc>
              <a:spcBef>
                <a:spcPct val="0"/>
              </a:spcBef>
            </a:pPr>
            <a:r>
              <a:rPr lang="ko-KR" altLang="en-US" sz="4592" dirty="0">
                <a:solidFill>
                  <a:srgbClr val="004AAD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목표</a:t>
            </a:r>
            <a:endParaRPr lang="en-US" sz="4592" dirty="0">
              <a:solidFill>
                <a:srgbClr val="004AAD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648CE36-84A6-684C-1624-27E3480B6D97}"/>
              </a:ext>
            </a:extLst>
          </p:cNvPr>
          <p:cNvSpPr txBox="1"/>
          <p:nvPr/>
        </p:nvSpPr>
        <p:spPr>
          <a:xfrm>
            <a:off x="3851144" y="2645656"/>
            <a:ext cx="12249539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59"/>
              </a:lnSpc>
              <a:spcBef>
                <a:spcPct val="0"/>
              </a:spcBef>
            </a:pPr>
            <a:r>
              <a:rPr lang="ko-KR" altLang="en-US" sz="44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방문일지 작성 시간 감소 및 정확도 향상</a:t>
            </a:r>
            <a:endParaRPr lang="en-US" sz="4399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pic>
        <p:nvPicPr>
          <p:cNvPr id="8" name="그림 7" descr="음성 녹음 - 무료 과학 기술개 아이콘">
            <a:extLst>
              <a:ext uri="{FF2B5EF4-FFF2-40B4-BE49-F238E27FC236}">
                <a16:creationId xmlns:a16="http://schemas.microsoft.com/office/drawing/2014/main" id="{7102BCF3-B834-EEF8-53D0-DB51E0D85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99" y="4458730"/>
            <a:ext cx="2514941" cy="2514941"/>
          </a:xfrm>
          <a:prstGeom prst="rect">
            <a:avLst/>
          </a:prstGeom>
        </p:spPr>
      </p:pic>
      <p:pic>
        <p:nvPicPr>
          <p:cNvPr id="14" name="그림 13" descr="Txt - 무료 파일 및 폴더개 아이콘">
            <a:extLst>
              <a:ext uri="{FF2B5EF4-FFF2-40B4-BE49-F238E27FC236}">
                <a16:creationId xmlns:a16="http://schemas.microsoft.com/office/drawing/2014/main" id="{498114D1-5404-336D-6E71-CAD78E7EC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606" y="4493052"/>
            <a:ext cx="2510481" cy="2510481"/>
          </a:xfrm>
          <a:prstGeom prst="rect">
            <a:avLst/>
          </a:prstGeom>
        </p:spPr>
      </p:pic>
      <p:pic>
        <p:nvPicPr>
          <p:cNvPr id="15" name="그림 14" descr="문의 양식 - 무료 파일 및 폴더개 아이콘">
            <a:extLst>
              <a:ext uri="{FF2B5EF4-FFF2-40B4-BE49-F238E27FC236}">
                <a16:creationId xmlns:a16="http://schemas.microsoft.com/office/drawing/2014/main" id="{DFB46674-0398-8782-99FC-4A6A2403A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4458730"/>
            <a:ext cx="2762536" cy="2762536"/>
          </a:xfrm>
          <a:prstGeom prst="rect">
            <a:avLst/>
          </a:prstGeom>
        </p:spPr>
      </p:pic>
      <p:pic>
        <p:nvPicPr>
          <p:cNvPr id="20" name="그림 19" descr="Gemini user surge trails ChatGPT and Meta AI | Digital Watch Observatory">
            <a:extLst>
              <a:ext uri="{FF2B5EF4-FFF2-40B4-BE49-F238E27FC236}">
                <a16:creationId xmlns:a16="http://schemas.microsoft.com/office/drawing/2014/main" id="{15759062-5BE2-81B9-8111-F3971A23C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0" y="4638065"/>
            <a:ext cx="4495800" cy="2527999"/>
          </a:xfrm>
          <a:prstGeom prst="rect">
            <a:avLst/>
          </a:prstGeom>
        </p:spPr>
      </p:pic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5D27CCB4-B87C-082C-FBC4-23959F01CD80}"/>
              </a:ext>
            </a:extLst>
          </p:cNvPr>
          <p:cNvSpPr/>
          <p:nvPr/>
        </p:nvSpPr>
        <p:spPr>
          <a:xfrm rot="5400000">
            <a:off x="3747093" y="5650640"/>
            <a:ext cx="441960" cy="381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64EB3659-0FE0-D2BF-540B-88AAFDFAD3BD}"/>
              </a:ext>
            </a:extLst>
          </p:cNvPr>
          <p:cNvSpPr/>
          <p:nvPr/>
        </p:nvSpPr>
        <p:spPr>
          <a:xfrm rot="5400000">
            <a:off x="11813788" y="5650640"/>
            <a:ext cx="441960" cy="381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05AF8CD3-70C3-2B0F-08CF-D397E86FC7EF}"/>
              </a:ext>
            </a:extLst>
          </p:cNvPr>
          <p:cNvSpPr txBox="1"/>
          <p:nvPr/>
        </p:nvSpPr>
        <p:spPr>
          <a:xfrm>
            <a:off x="841010" y="6990948"/>
            <a:ext cx="2391203" cy="948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녹음</a:t>
            </a:r>
            <a:endParaRPr lang="en-US" sz="36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BBB8829A-1EE4-54CD-AEEF-05CCE019CD1C}"/>
              </a:ext>
            </a:extLst>
          </p:cNvPr>
          <p:cNvSpPr txBox="1"/>
          <p:nvPr/>
        </p:nvSpPr>
        <p:spPr>
          <a:xfrm>
            <a:off x="4553419" y="7008453"/>
            <a:ext cx="2391203" cy="917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텍스트변환</a:t>
            </a:r>
            <a:endParaRPr lang="en-US" sz="36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97FA12F4-9543-481E-75EF-921E68751298}"/>
              </a:ext>
            </a:extLst>
          </p:cNvPr>
          <p:cNvSpPr txBox="1"/>
          <p:nvPr/>
        </p:nvSpPr>
        <p:spPr>
          <a:xfrm>
            <a:off x="8491466" y="7051770"/>
            <a:ext cx="2391203" cy="917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양식 준비 </a:t>
            </a:r>
            <a:endParaRPr lang="en-US" sz="36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18BB74D-9FB0-DF61-734D-A1B2D3AF6C49}"/>
              </a:ext>
            </a:extLst>
          </p:cNvPr>
          <p:cNvSpPr/>
          <p:nvPr/>
        </p:nvSpPr>
        <p:spPr>
          <a:xfrm>
            <a:off x="4343400" y="3771900"/>
            <a:ext cx="7162800" cy="4572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12B24F97-BA99-55EB-7026-10714387143E}"/>
              </a:ext>
            </a:extLst>
          </p:cNvPr>
          <p:cNvSpPr txBox="1"/>
          <p:nvPr/>
        </p:nvSpPr>
        <p:spPr>
          <a:xfrm>
            <a:off x="13053044" y="7051770"/>
            <a:ext cx="3927343" cy="917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초안 </a:t>
            </a:r>
            <a:r>
              <a:rPr lang="ko-KR" altLang="en-US" sz="3600" dirty="0" err="1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작성후</a:t>
            </a:r>
            <a:r>
              <a:rPr lang="ko-KR" altLang="en-US" sz="3600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수정만 </a:t>
            </a:r>
            <a:endParaRPr lang="en-US" sz="3600" dirty="0">
              <a:solidFill>
                <a:srgbClr val="000000"/>
              </a:solidFill>
              <a:latin typeface="210 네버랜드"/>
              <a:ea typeface="210 네버랜드"/>
              <a:cs typeface="210 네버랜드"/>
              <a:sym typeface="210 네버랜드"/>
            </a:endParaRPr>
          </a:p>
        </p:txBody>
      </p:sp>
      <p:grpSp>
        <p:nvGrpSpPr>
          <p:cNvPr id="31" name="Group 2">
            <a:extLst>
              <a:ext uri="{FF2B5EF4-FFF2-40B4-BE49-F238E27FC236}">
                <a16:creationId xmlns:a16="http://schemas.microsoft.com/office/drawing/2014/main" id="{1DE65694-A2F1-7B93-670E-D96CD907AB8B}"/>
              </a:ext>
            </a:extLst>
          </p:cNvPr>
          <p:cNvGrpSpPr/>
          <p:nvPr/>
        </p:nvGrpSpPr>
        <p:grpSpPr>
          <a:xfrm>
            <a:off x="275797" y="303268"/>
            <a:ext cx="17656784" cy="1145068"/>
            <a:chOff x="0" y="0"/>
            <a:chExt cx="23542379" cy="1526758"/>
          </a:xfrm>
        </p:grpSpPr>
        <p:grpSp>
          <p:nvGrpSpPr>
            <p:cNvPr id="32" name="Group 3">
              <a:extLst>
                <a:ext uri="{FF2B5EF4-FFF2-40B4-BE49-F238E27FC236}">
                  <a16:creationId xmlns:a16="http://schemas.microsoft.com/office/drawing/2014/main" id="{DFD99EE9-D561-1D89-D529-281ACAD7979A}"/>
                </a:ext>
              </a:extLst>
            </p:cNvPr>
            <p:cNvGrpSpPr/>
            <p:nvPr/>
          </p:nvGrpSpPr>
          <p:grpSpPr>
            <a:xfrm>
              <a:off x="0" y="0"/>
              <a:ext cx="23542379" cy="1526758"/>
              <a:chOff x="0" y="0"/>
              <a:chExt cx="3633083" cy="235611"/>
            </a:xfrm>
          </p:grpSpPr>
          <p:sp>
            <p:nvSpPr>
              <p:cNvPr id="34" name="Freeform 4">
                <a:extLst>
                  <a:ext uri="{FF2B5EF4-FFF2-40B4-BE49-F238E27FC236}">
                    <a16:creationId xmlns:a16="http://schemas.microsoft.com/office/drawing/2014/main" id="{20275869-DAED-4385-06F4-BBBA2CB3C1EB}"/>
                  </a:ext>
                </a:extLst>
              </p:cNvPr>
              <p:cNvSpPr/>
              <p:nvPr/>
            </p:nvSpPr>
            <p:spPr>
              <a:xfrm>
                <a:off x="0" y="0"/>
                <a:ext cx="3633083" cy="235611"/>
              </a:xfrm>
              <a:custGeom>
                <a:avLst/>
                <a:gdLst/>
                <a:ahLst/>
                <a:cxnLst/>
                <a:rect l="l" t="t" r="r" b="b"/>
                <a:pathLst>
                  <a:path w="3633083" h="235611">
                    <a:moveTo>
                      <a:pt x="8564" y="0"/>
                    </a:moveTo>
                    <a:lnTo>
                      <a:pt x="3624519" y="0"/>
                    </a:lnTo>
                    <a:cubicBezTo>
                      <a:pt x="3629249" y="0"/>
                      <a:pt x="3633083" y="3834"/>
                      <a:pt x="3633083" y="8564"/>
                    </a:cubicBezTo>
                    <a:lnTo>
                      <a:pt x="3633083" y="227047"/>
                    </a:lnTo>
                    <a:cubicBezTo>
                      <a:pt x="3633083" y="229318"/>
                      <a:pt x="3632181" y="231496"/>
                      <a:pt x="3630575" y="233102"/>
                    </a:cubicBezTo>
                    <a:cubicBezTo>
                      <a:pt x="3628969" y="234709"/>
                      <a:pt x="3626791" y="235611"/>
                      <a:pt x="3624519" y="235611"/>
                    </a:cubicBezTo>
                    <a:lnTo>
                      <a:pt x="8564" y="235611"/>
                    </a:lnTo>
                    <a:cubicBezTo>
                      <a:pt x="3834" y="235611"/>
                      <a:pt x="0" y="231777"/>
                      <a:pt x="0" y="227047"/>
                    </a:cubicBezTo>
                    <a:lnTo>
                      <a:pt x="0" y="8564"/>
                    </a:lnTo>
                    <a:cubicBezTo>
                      <a:pt x="0" y="3834"/>
                      <a:pt x="3834" y="0"/>
                      <a:pt x="8564" y="0"/>
                    </a:cubicBezTo>
                    <a:close/>
                  </a:path>
                </a:pathLst>
              </a:custGeom>
              <a:solidFill>
                <a:srgbClr val="86B49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TextBox 5">
                <a:extLst>
                  <a:ext uri="{FF2B5EF4-FFF2-40B4-BE49-F238E27FC236}">
                    <a16:creationId xmlns:a16="http://schemas.microsoft.com/office/drawing/2014/main" id="{3EE09C76-2C03-B6F6-68A7-2752C371192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633083" cy="26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3" name="TextBox 6">
              <a:extLst>
                <a:ext uri="{FF2B5EF4-FFF2-40B4-BE49-F238E27FC236}">
                  <a16:creationId xmlns:a16="http://schemas.microsoft.com/office/drawing/2014/main" id="{5588904C-50DD-E84E-50FA-08503FFBFE99}"/>
                </a:ext>
              </a:extLst>
            </p:cNvPr>
            <p:cNvSpPr txBox="1"/>
            <p:nvPr/>
          </p:nvSpPr>
          <p:spPr>
            <a:xfrm>
              <a:off x="624116" y="292485"/>
              <a:ext cx="22274555" cy="9395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692"/>
                </a:lnSpc>
                <a:spcBef>
                  <a:spcPct val="0"/>
                </a:spcBef>
              </a:pPr>
              <a:r>
                <a:rPr lang="en-US" sz="4066" dirty="0" err="1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실제</a:t>
              </a:r>
              <a:r>
                <a:rPr lang="en-US" sz="4066" dirty="0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 </a:t>
              </a:r>
              <a:r>
                <a:rPr lang="en-US" sz="4066" dirty="0" err="1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사례로</a:t>
              </a:r>
              <a:r>
                <a:rPr lang="en-US" sz="4066" dirty="0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 </a:t>
              </a:r>
              <a:r>
                <a:rPr lang="en-US" sz="4066" dirty="0" err="1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알아보기</a:t>
              </a:r>
              <a:r>
                <a:rPr lang="en-US" sz="4066" dirty="0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 2 – </a:t>
              </a:r>
              <a:r>
                <a:rPr lang="ko-KR" altLang="en-US" sz="3600" dirty="0">
                  <a:latin typeface="210 네버랜드" panose="020B0600000101010101" charset="-127"/>
                  <a:ea typeface="210 네버랜드" panose="020B0600000101010101" charset="-127"/>
                </a:rPr>
                <a:t>영업관리 업무의 숨은 비효율 방문일지 작성 문제</a:t>
              </a:r>
              <a:endParaRPr lang="en-US" sz="4066" dirty="0">
                <a:solidFill>
                  <a:srgbClr val="000000"/>
                </a:solidFill>
                <a:latin typeface="210 네버랜드" panose="020B0600000101010101" charset="-127"/>
                <a:ea typeface="210 네버랜드" panose="020B0600000101010101" charset="-127"/>
                <a:cs typeface="210 네버랜드"/>
                <a:sym typeface="210 네버랜드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8301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A6BCC-6E87-3679-CEAB-EEAB8DB14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B86E2876-A5D0-8071-9F54-56804FF5A2C5}"/>
              </a:ext>
            </a:extLst>
          </p:cNvPr>
          <p:cNvSpPr txBox="1"/>
          <p:nvPr/>
        </p:nvSpPr>
        <p:spPr>
          <a:xfrm>
            <a:off x="4876800" y="2565637"/>
            <a:ext cx="12687908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9"/>
              </a:lnSpc>
              <a:spcBef>
                <a:spcPct val="0"/>
              </a:spcBef>
            </a:pPr>
            <a:r>
              <a:rPr lang="ko-KR" altLang="en-US" sz="4592" dirty="0">
                <a:solidFill>
                  <a:srgbClr val="004AAD"/>
                </a:solidFill>
                <a:latin typeface="210 네버랜드"/>
                <a:ea typeface="210 네버랜드"/>
              </a:rPr>
              <a:t>현장기록을 </a:t>
            </a:r>
            <a:r>
              <a:rPr lang="en-US" altLang="ko-KR" sz="4592" dirty="0">
                <a:solidFill>
                  <a:srgbClr val="004AAD"/>
                </a:solidFill>
                <a:latin typeface="210 네버랜드"/>
                <a:ea typeface="210 네버랜드"/>
              </a:rPr>
              <a:t>AI</a:t>
            </a:r>
            <a:r>
              <a:rPr lang="ko-KR" altLang="en-US" sz="4592" dirty="0">
                <a:solidFill>
                  <a:srgbClr val="004AAD"/>
                </a:solidFill>
                <a:latin typeface="210 네버랜드"/>
                <a:ea typeface="210 네버랜드"/>
              </a:rPr>
              <a:t>가 자동 정리하고 </a:t>
            </a:r>
            <a:endParaRPr lang="en-US" altLang="ko-KR" sz="4592" dirty="0">
              <a:solidFill>
                <a:srgbClr val="004AAD"/>
              </a:solidFill>
              <a:latin typeface="210 네버랜드"/>
              <a:ea typeface="210 네버랜드"/>
            </a:endParaRPr>
          </a:p>
          <a:p>
            <a:pPr algn="ctr">
              <a:lnSpc>
                <a:spcPts val="6429"/>
              </a:lnSpc>
              <a:spcBef>
                <a:spcPct val="0"/>
              </a:spcBef>
            </a:pPr>
            <a:r>
              <a:rPr lang="ko-KR" altLang="en-US" sz="4592" dirty="0">
                <a:solidFill>
                  <a:srgbClr val="004AAD"/>
                </a:solidFill>
                <a:latin typeface="210 네버랜드"/>
                <a:ea typeface="210 네버랜드"/>
              </a:rPr>
              <a:t>방문일지 작성 시간을 줄인다</a:t>
            </a:r>
            <a:r>
              <a:rPr lang="en-US" altLang="ko-KR" sz="4592" dirty="0">
                <a:solidFill>
                  <a:srgbClr val="004AAD"/>
                </a:solidFill>
                <a:latin typeface="210 네버랜드"/>
                <a:ea typeface="210 네버랜드"/>
              </a:rPr>
              <a:t>!</a:t>
            </a:r>
            <a:endParaRPr lang="en-US" sz="4592" dirty="0">
              <a:solidFill>
                <a:srgbClr val="004AAD"/>
              </a:solidFill>
              <a:latin typeface="210 네버랜드"/>
              <a:ea typeface="210 네버랜드"/>
              <a:sym typeface="210 네버랜드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F2874E8-08C5-09C5-F4D3-AAF2945FA1CF}"/>
              </a:ext>
            </a:extLst>
          </p:cNvPr>
          <p:cNvGrpSpPr/>
          <p:nvPr/>
        </p:nvGrpSpPr>
        <p:grpSpPr>
          <a:xfrm>
            <a:off x="9030400" y="5573571"/>
            <a:ext cx="8902182" cy="4000498"/>
            <a:chOff x="0" y="0"/>
            <a:chExt cx="11869576" cy="5333997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101C9D8-6AD6-E6FE-0B47-6EC5262779BE}"/>
                </a:ext>
              </a:extLst>
            </p:cNvPr>
            <p:cNvGrpSpPr/>
            <p:nvPr/>
          </p:nvGrpSpPr>
          <p:grpSpPr>
            <a:xfrm>
              <a:off x="0" y="0"/>
              <a:ext cx="11869576" cy="5333997"/>
              <a:chOff x="0" y="0"/>
              <a:chExt cx="1326397" cy="596062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111676E-170E-DD24-425A-BAA1438B9094}"/>
                  </a:ext>
                </a:extLst>
              </p:cNvPr>
              <p:cNvSpPr/>
              <p:nvPr/>
            </p:nvSpPr>
            <p:spPr>
              <a:xfrm>
                <a:off x="0" y="0"/>
                <a:ext cx="1326397" cy="596062"/>
              </a:xfrm>
              <a:custGeom>
                <a:avLst/>
                <a:gdLst/>
                <a:ahLst/>
                <a:cxnLst/>
                <a:rect l="l" t="t" r="r" b="b"/>
                <a:pathLst>
                  <a:path w="1326397" h="596062">
                    <a:moveTo>
                      <a:pt x="12210" y="0"/>
                    </a:moveTo>
                    <a:lnTo>
                      <a:pt x="1314188" y="0"/>
                    </a:lnTo>
                    <a:cubicBezTo>
                      <a:pt x="1317426" y="0"/>
                      <a:pt x="1320532" y="1286"/>
                      <a:pt x="1322821" y="3576"/>
                    </a:cubicBezTo>
                    <a:cubicBezTo>
                      <a:pt x="1325111" y="5866"/>
                      <a:pt x="1326397" y="8971"/>
                      <a:pt x="1326397" y="12210"/>
                    </a:cubicBezTo>
                    <a:lnTo>
                      <a:pt x="1326397" y="583852"/>
                    </a:lnTo>
                    <a:cubicBezTo>
                      <a:pt x="1326397" y="587090"/>
                      <a:pt x="1325111" y="590196"/>
                      <a:pt x="1322821" y="592486"/>
                    </a:cubicBezTo>
                    <a:cubicBezTo>
                      <a:pt x="1320532" y="594775"/>
                      <a:pt x="1317426" y="596062"/>
                      <a:pt x="1314188" y="596062"/>
                    </a:cubicBezTo>
                    <a:lnTo>
                      <a:pt x="12210" y="596062"/>
                    </a:lnTo>
                    <a:cubicBezTo>
                      <a:pt x="8971" y="596062"/>
                      <a:pt x="5866" y="594775"/>
                      <a:pt x="3576" y="592486"/>
                    </a:cubicBezTo>
                    <a:cubicBezTo>
                      <a:pt x="1286" y="590196"/>
                      <a:pt x="0" y="587090"/>
                      <a:pt x="0" y="583852"/>
                    </a:cubicBezTo>
                    <a:lnTo>
                      <a:pt x="0" y="12210"/>
                    </a:lnTo>
                    <a:cubicBezTo>
                      <a:pt x="0" y="8971"/>
                      <a:pt x="1286" y="5866"/>
                      <a:pt x="3576" y="3576"/>
                    </a:cubicBezTo>
                    <a:cubicBezTo>
                      <a:pt x="5866" y="1286"/>
                      <a:pt x="8971" y="0"/>
                      <a:pt x="1221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64BD411-686C-BD32-8C55-25D82C30A6D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326397" cy="624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D0554F5-EF74-3C89-216F-ECCB086C1042}"/>
                </a:ext>
              </a:extLst>
            </p:cNvPr>
            <p:cNvSpPr txBox="1"/>
            <p:nvPr/>
          </p:nvSpPr>
          <p:spPr>
            <a:xfrm>
              <a:off x="3178852" y="456308"/>
              <a:ext cx="5802355" cy="892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34"/>
                </a:lnSpc>
                <a:spcBef>
                  <a:spcPct val="0"/>
                </a:spcBef>
              </a:pPr>
              <a:r>
                <a:rPr lang="en-US" sz="3953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AI 질문 예시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EB30C45-F225-30C0-170F-1506F2BE31D5}"/>
                </a:ext>
              </a:extLst>
            </p:cNvPr>
            <p:cNvSpPr txBox="1"/>
            <p:nvPr/>
          </p:nvSpPr>
          <p:spPr>
            <a:xfrm>
              <a:off x="479677" y="2402004"/>
              <a:ext cx="11200705" cy="1949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24"/>
                </a:lnSpc>
              </a:pPr>
              <a:r>
                <a:rPr lang="en-US" sz="2731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“</a:t>
              </a:r>
              <a:r>
                <a:rPr lang="ko-KR" altLang="en-US" sz="2731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현장 녹취 내용을 기반으로</a:t>
              </a:r>
              <a:r>
                <a:rPr lang="en-US" altLang="ko-KR" sz="2731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,</a:t>
              </a:r>
            </a:p>
            <a:p>
              <a:pPr algn="ctr">
                <a:lnSpc>
                  <a:spcPts val="3824"/>
                </a:lnSpc>
              </a:pPr>
              <a:r>
                <a:rPr lang="ko-KR" altLang="en-US" sz="2731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방문일지 양식을 참고해서</a:t>
              </a:r>
              <a:endParaRPr lang="en-US" altLang="ko-KR" sz="2731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endParaRPr>
            </a:p>
            <a:p>
              <a:pPr algn="ctr">
                <a:lnSpc>
                  <a:spcPts val="3824"/>
                </a:lnSpc>
              </a:pPr>
              <a:r>
                <a:rPr lang="ko-KR" altLang="en-US" sz="2731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초안을 작성해줘</a:t>
              </a:r>
              <a:r>
                <a:rPr lang="en-US" altLang="ko-KR" sz="2731" dirty="0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＂</a:t>
              </a:r>
              <a:endParaRPr lang="en-US" sz="2731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0BF73AC-DD00-1BC5-BC3B-3CEDD5B59D97}"/>
              </a:ext>
            </a:extLst>
          </p:cNvPr>
          <p:cNvGrpSpPr/>
          <p:nvPr/>
        </p:nvGrpSpPr>
        <p:grpSpPr>
          <a:xfrm>
            <a:off x="9128" y="5377981"/>
            <a:ext cx="8827226" cy="4283457"/>
            <a:chOff x="0" y="-260786"/>
            <a:chExt cx="11769635" cy="5711276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D6776AFB-3189-5935-586B-193F2FCFFEC3}"/>
                </a:ext>
              </a:extLst>
            </p:cNvPr>
            <p:cNvGrpSpPr/>
            <p:nvPr/>
          </p:nvGrpSpPr>
          <p:grpSpPr>
            <a:xfrm>
              <a:off x="481877" y="-260786"/>
              <a:ext cx="11032970" cy="5711276"/>
              <a:chOff x="0" y="-28575"/>
              <a:chExt cx="1208911" cy="625799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5BAAF99F-39D1-0E53-A3AF-F00FAF048015}"/>
                  </a:ext>
                </a:extLst>
              </p:cNvPr>
              <p:cNvSpPr/>
              <p:nvPr/>
            </p:nvSpPr>
            <p:spPr>
              <a:xfrm>
                <a:off x="0" y="0"/>
                <a:ext cx="1208911" cy="597224"/>
              </a:xfrm>
              <a:custGeom>
                <a:avLst/>
                <a:gdLst/>
                <a:ahLst/>
                <a:cxnLst/>
                <a:rect l="l" t="t" r="r" b="b"/>
                <a:pathLst>
                  <a:path w="1208911" h="597224">
                    <a:moveTo>
                      <a:pt x="15912" y="0"/>
                    </a:moveTo>
                    <a:lnTo>
                      <a:pt x="1192999" y="0"/>
                    </a:lnTo>
                    <a:cubicBezTo>
                      <a:pt x="1201787" y="0"/>
                      <a:pt x="1208911" y="7124"/>
                      <a:pt x="1208911" y="15912"/>
                    </a:cubicBezTo>
                    <a:lnTo>
                      <a:pt x="1208911" y="581312"/>
                    </a:lnTo>
                    <a:cubicBezTo>
                      <a:pt x="1208911" y="585532"/>
                      <a:pt x="1207235" y="589579"/>
                      <a:pt x="1204251" y="592564"/>
                    </a:cubicBezTo>
                    <a:cubicBezTo>
                      <a:pt x="1201267" y="595548"/>
                      <a:pt x="1197219" y="597224"/>
                      <a:pt x="1192999" y="597224"/>
                    </a:cubicBezTo>
                    <a:lnTo>
                      <a:pt x="15912" y="597224"/>
                    </a:lnTo>
                    <a:cubicBezTo>
                      <a:pt x="11692" y="597224"/>
                      <a:pt x="7645" y="595548"/>
                      <a:pt x="4661" y="592564"/>
                    </a:cubicBezTo>
                    <a:cubicBezTo>
                      <a:pt x="1676" y="589579"/>
                      <a:pt x="0" y="585532"/>
                      <a:pt x="0" y="581312"/>
                    </a:cubicBezTo>
                    <a:lnTo>
                      <a:pt x="0" y="15912"/>
                    </a:lnTo>
                    <a:cubicBezTo>
                      <a:pt x="0" y="11692"/>
                      <a:pt x="1676" y="7645"/>
                      <a:pt x="4661" y="4661"/>
                    </a:cubicBezTo>
                    <a:cubicBezTo>
                      <a:pt x="7645" y="1676"/>
                      <a:pt x="11692" y="0"/>
                      <a:pt x="1591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B2DB5114-5271-F560-DA57-77B92DE6487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08911" cy="625799"/>
              </a:xfrm>
              <a:prstGeom prst="rect">
                <a:avLst/>
              </a:prstGeom>
            </p:spPr>
            <p:txBody>
              <a:bodyPr lIns="44065" tIns="44065" rIns="44065" bIns="44065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7272FC5-D499-D4EF-4AE3-9BB2C5091A01}"/>
                </a:ext>
              </a:extLst>
            </p:cNvPr>
            <p:cNvSpPr txBox="1"/>
            <p:nvPr/>
          </p:nvSpPr>
          <p:spPr>
            <a:xfrm>
              <a:off x="0" y="2367875"/>
              <a:ext cx="11769635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93"/>
                </a:lnSpc>
              </a:pPr>
              <a:r>
                <a:rPr lang="ko-KR" altLang="en-US" sz="3138" dirty="0">
                  <a:solidFill>
                    <a:srgbClr val="FFFFFF"/>
                  </a:solidFill>
                  <a:latin typeface="210 네버랜드"/>
                  <a:ea typeface="210 네버랜드"/>
                </a:rPr>
                <a:t>현장 기록을 데이터로 저장하고</a:t>
              </a:r>
              <a:r>
                <a:rPr lang="en-US" altLang="ko-KR" sz="3138" dirty="0">
                  <a:solidFill>
                    <a:srgbClr val="FFFFFF"/>
                  </a:solidFill>
                  <a:latin typeface="210 네버랜드"/>
                  <a:ea typeface="210 네버랜드"/>
                </a:rPr>
                <a:t>,</a:t>
              </a:r>
              <a:br>
                <a:rPr lang="ko-KR" altLang="en-US" sz="3138" dirty="0">
                  <a:solidFill>
                    <a:srgbClr val="FFFFFF"/>
                  </a:solidFill>
                  <a:latin typeface="210 네버랜드"/>
                  <a:ea typeface="210 네버랜드"/>
                </a:rPr>
              </a:br>
              <a:r>
                <a:rPr lang="ko-KR" altLang="en-US" sz="3138" dirty="0">
                  <a:solidFill>
                    <a:srgbClr val="FFFFFF"/>
                  </a:solidFill>
                  <a:latin typeface="210 네버랜드"/>
                  <a:ea typeface="210 네버랜드"/>
                </a:rPr>
                <a:t>방문 이력을 체계적으로 관리 및 사고 확장</a:t>
              </a:r>
              <a:endParaRPr lang="en-US" sz="3138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45257BD2-F121-A245-0DA0-2999447F9B92}"/>
                </a:ext>
              </a:extLst>
            </p:cNvPr>
            <p:cNvSpPr txBox="1"/>
            <p:nvPr/>
          </p:nvSpPr>
          <p:spPr>
            <a:xfrm>
              <a:off x="2949822" y="517211"/>
              <a:ext cx="6097080" cy="100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16"/>
                </a:lnSpc>
                <a:spcBef>
                  <a:spcPct val="0"/>
                </a:spcBef>
              </a:pPr>
              <a:r>
                <a:rPr lang="en-US" sz="451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DX</a:t>
              </a:r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D15582A7-7417-AD4B-2A2C-CD1473C36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65019"/>
            <a:ext cx="3070591" cy="3070591"/>
          </a:xfrm>
          <a:prstGeom prst="rect">
            <a:avLst/>
          </a:prstGeom>
        </p:spPr>
      </p:pic>
      <p:grpSp>
        <p:nvGrpSpPr>
          <p:cNvPr id="30" name="Group 2">
            <a:extLst>
              <a:ext uri="{FF2B5EF4-FFF2-40B4-BE49-F238E27FC236}">
                <a16:creationId xmlns:a16="http://schemas.microsoft.com/office/drawing/2014/main" id="{51223665-D4B6-AD71-A432-18AA50622C63}"/>
              </a:ext>
            </a:extLst>
          </p:cNvPr>
          <p:cNvGrpSpPr/>
          <p:nvPr/>
        </p:nvGrpSpPr>
        <p:grpSpPr>
          <a:xfrm>
            <a:off x="275797" y="303268"/>
            <a:ext cx="17656784" cy="1145068"/>
            <a:chOff x="0" y="0"/>
            <a:chExt cx="23542379" cy="1526758"/>
          </a:xfrm>
        </p:grpSpPr>
        <p:grpSp>
          <p:nvGrpSpPr>
            <p:cNvPr id="31" name="Group 3">
              <a:extLst>
                <a:ext uri="{FF2B5EF4-FFF2-40B4-BE49-F238E27FC236}">
                  <a16:creationId xmlns:a16="http://schemas.microsoft.com/office/drawing/2014/main" id="{407B4F46-2D6C-AA47-2812-C9344EB5CEAF}"/>
                </a:ext>
              </a:extLst>
            </p:cNvPr>
            <p:cNvGrpSpPr/>
            <p:nvPr/>
          </p:nvGrpSpPr>
          <p:grpSpPr>
            <a:xfrm>
              <a:off x="0" y="0"/>
              <a:ext cx="23542379" cy="1526758"/>
              <a:chOff x="0" y="0"/>
              <a:chExt cx="3633083" cy="235611"/>
            </a:xfrm>
          </p:grpSpPr>
          <p:sp>
            <p:nvSpPr>
              <p:cNvPr id="33" name="Freeform 4">
                <a:extLst>
                  <a:ext uri="{FF2B5EF4-FFF2-40B4-BE49-F238E27FC236}">
                    <a16:creationId xmlns:a16="http://schemas.microsoft.com/office/drawing/2014/main" id="{A298B507-6B68-F830-7427-6165DB38554A}"/>
                  </a:ext>
                </a:extLst>
              </p:cNvPr>
              <p:cNvSpPr/>
              <p:nvPr/>
            </p:nvSpPr>
            <p:spPr>
              <a:xfrm>
                <a:off x="0" y="0"/>
                <a:ext cx="3633083" cy="235611"/>
              </a:xfrm>
              <a:custGeom>
                <a:avLst/>
                <a:gdLst/>
                <a:ahLst/>
                <a:cxnLst/>
                <a:rect l="l" t="t" r="r" b="b"/>
                <a:pathLst>
                  <a:path w="3633083" h="235611">
                    <a:moveTo>
                      <a:pt x="8564" y="0"/>
                    </a:moveTo>
                    <a:lnTo>
                      <a:pt x="3624519" y="0"/>
                    </a:lnTo>
                    <a:cubicBezTo>
                      <a:pt x="3629249" y="0"/>
                      <a:pt x="3633083" y="3834"/>
                      <a:pt x="3633083" y="8564"/>
                    </a:cubicBezTo>
                    <a:lnTo>
                      <a:pt x="3633083" y="227047"/>
                    </a:lnTo>
                    <a:cubicBezTo>
                      <a:pt x="3633083" y="229318"/>
                      <a:pt x="3632181" y="231496"/>
                      <a:pt x="3630575" y="233102"/>
                    </a:cubicBezTo>
                    <a:cubicBezTo>
                      <a:pt x="3628969" y="234709"/>
                      <a:pt x="3626791" y="235611"/>
                      <a:pt x="3624519" y="235611"/>
                    </a:cubicBezTo>
                    <a:lnTo>
                      <a:pt x="8564" y="235611"/>
                    </a:lnTo>
                    <a:cubicBezTo>
                      <a:pt x="3834" y="235611"/>
                      <a:pt x="0" y="231777"/>
                      <a:pt x="0" y="227047"/>
                    </a:cubicBezTo>
                    <a:lnTo>
                      <a:pt x="0" y="8564"/>
                    </a:lnTo>
                    <a:cubicBezTo>
                      <a:pt x="0" y="3834"/>
                      <a:pt x="3834" y="0"/>
                      <a:pt x="8564" y="0"/>
                    </a:cubicBezTo>
                    <a:close/>
                  </a:path>
                </a:pathLst>
              </a:custGeom>
              <a:solidFill>
                <a:srgbClr val="86B49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A4726A88-C54C-F9BF-970A-E68D5802262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633083" cy="26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2" name="TextBox 6">
              <a:extLst>
                <a:ext uri="{FF2B5EF4-FFF2-40B4-BE49-F238E27FC236}">
                  <a16:creationId xmlns:a16="http://schemas.microsoft.com/office/drawing/2014/main" id="{866C5EF0-AFF9-FA53-C33D-50DC80487D30}"/>
                </a:ext>
              </a:extLst>
            </p:cNvPr>
            <p:cNvSpPr txBox="1"/>
            <p:nvPr/>
          </p:nvSpPr>
          <p:spPr>
            <a:xfrm>
              <a:off x="624116" y="292485"/>
              <a:ext cx="22274555" cy="9395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692"/>
                </a:lnSpc>
                <a:spcBef>
                  <a:spcPct val="0"/>
                </a:spcBef>
              </a:pPr>
              <a:r>
                <a:rPr lang="en-US" sz="4066" dirty="0" err="1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실제</a:t>
              </a:r>
              <a:r>
                <a:rPr lang="en-US" sz="4066" dirty="0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 </a:t>
              </a:r>
              <a:r>
                <a:rPr lang="en-US" sz="4066" dirty="0" err="1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사례로</a:t>
              </a:r>
              <a:r>
                <a:rPr lang="en-US" sz="4066" dirty="0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 </a:t>
              </a:r>
              <a:r>
                <a:rPr lang="en-US" sz="4066" dirty="0" err="1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알아보기</a:t>
              </a:r>
              <a:r>
                <a:rPr lang="en-US" sz="4066" dirty="0">
                  <a:solidFill>
                    <a:srgbClr val="000000"/>
                  </a:solidFill>
                  <a:latin typeface="210 네버랜드" panose="020B0600000101010101" charset="-127"/>
                  <a:ea typeface="210 네버랜드" panose="020B0600000101010101" charset="-127"/>
                  <a:cs typeface="210 네버랜드"/>
                  <a:sym typeface="210 네버랜드"/>
                </a:rPr>
                <a:t> 2 – </a:t>
              </a:r>
              <a:r>
                <a:rPr lang="ko-KR" altLang="en-US" sz="3600" dirty="0">
                  <a:latin typeface="210 네버랜드" panose="020B0600000101010101" charset="-127"/>
                  <a:ea typeface="210 네버랜드" panose="020B0600000101010101" charset="-127"/>
                </a:rPr>
                <a:t>영업관리 업무의 숨은 비효율 방문일지 작성 문제</a:t>
              </a:r>
              <a:endParaRPr lang="en-US" sz="4066" dirty="0">
                <a:solidFill>
                  <a:srgbClr val="000000"/>
                </a:solidFill>
                <a:latin typeface="210 네버랜드" panose="020B0600000101010101" charset="-127"/>
                <a:ea typeface="210 네버랜드" panose="020B0600000101010101" charset="-127"/>
                <a:cs typeface="210 네버랜드"/>
                <a:sym typeface="210 네버랜드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006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Subtitle"/>
          <p:cNvSpPr txBox="1"/>
          <p:nvPr/>
        </p:nvSpPr>
        <p:spPr>
          <a:xfrm>
            <a:off x="1200000" y="1700000"/>
            <a:ext cx="15700000" cy="700000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ko-KR" altLang="en-US" sz="2400" dirty="0">
                <a:solidFill>
                  <a:srgbClr val="555555"/>
                </a:solidFill>
                <a:latin typeface="210 네버랜드"/>
                <a:ea typeface="210 네버랜드"/>
                <a:cs typeface="210 네버랜드"/>
              </a:rPr>
              <a:t>AI와 함께 일하는 6단계 사이클 — 어떤 업무든 이 순서대로 접근하면 효과적입니다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ED44C7-5250-8EA8-5150-F15D00EB4B1E}"/>
              </a:ext>
            </a:extLst>
          </p:cNvPr>
          <p:cNvSpPr/>
          <p:nvPr/>
        </p:nvSpPr>
        <p:spPr>
          <a:xfrm>
            <a:off x="2483967" y="4009644"/>
            <a:ext cx="1463040" cy="3474720"/>
          </a:xfrm>
          <a:prstGeom prst="rect">
            <a:avLst/>
          </a:prstGeom>
          <a:solidFill>
            <a:srgbClr val="1E1E1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A9955-222B-BD2B-C5E3-DBE5BB1F36CD}"/>
              </a:ext>
            </a:extLst>
          </p:cNvPr>
          <p:cNvSpPr txBox="1"/>
          <p:nvPr/>
        </p:nvSpPr>
        <p:spPr>
          <a:xfrm>
            <a:off x="2529687" y="4146804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A0"/>
                </a:solidFill>
              </a:defRPr>
            </a:pPr>
            <a:r>
              <a:t>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9FCBB-6F4F-D151-F156-DE549AC2AB34}"/>
              </a:ext>
            </a:extLst>
          </p:cNvPr>
          <p:cNvSpPr txBox="1"/>
          <p:nvPr/>
        </p:nvSpPr>
        <p:spPr>
          <a:xfrm>
            <a:off x="2529687" y="475945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문제 정의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3CC33-91BB-0D33-78A0-6D462E290026}"/>
              </a:ext>
            </a:extLst>
          </p:cNvPr>
          <p:cNvSpPr txBox="1"/>
          <p:nvPr/>
        </p:nvSpPr>
        <p:spPr>
          <a:xfrm>
            <a:off x="2529687" y="5929884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해결해야 할</a:t>
            </a:r>
            <a:br/>
            <a:r>
              <a:t>핵심 문제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73C7A-9070-71AC-59A1-19F646DFFE30}"/>
              </a:ext>
            </a:extLst>
          </p:cNvPr>
          <p:cNvSpPr txBox="1"/>
          <p:nvPr/>
        </p:nvSpPr>
        <p:spPr>
          <a:xfrm>
            <a:off x="4047591" y="5472684"/>
            <a:ext cx="3474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E5A0"/>
                </a:solidFill>
              </a:defRPr>
            </a:pPr>
            <a: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395ED1-A0B9-059B-FA85-D5B29CDAB2BE}"/>
              </a:ext>
            </a:extLst>
          </p:cNvPr>
          <p:cNvSpPr/>
          <p:nvPr/>
        </p:nvSpPr>
        <p:spPr>
          <a:xfrm>
            <a:off x="4404207" y="4009644"/>
            <a:ext cx="1463040" cy="3474720"/>
          </a:xfrm>
          <a:prstGeom prst="rect">
            <a:avLst/>
          </a:prstGeom>
          <a:solidFill>
            <a:srgbClr val="1E1E1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C25370-C4D7-36D3-B529-7C2853D8D47B}"/>
              </a:ext>
            </a:extLst>
          </p:cNvPr>
          <p:cNvSpPr txBox="1"/>
          <p:nvPr/>
        </p:nvSpPr>
        <p:spPr>
          <a:xfrm>
            <a:off x="4449927" y="4146804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A0"/>
                </a:solidFill>
              </a:defRPr>
            </a:pPr>
            <a:r>
              <a:t>②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1560AD-AAB7-F672-0DEC-2FF01DBADDB7}"/>
              </a:ext>
            </a:extLst>
          </p:cNvPr>
          <p:cNvSpPr txBox="1"/>
          <p:nvPr/>
        </p:nvSpPr>
        <p:spPr>
          <a:xfrm>
            <a:off x="4449927" y="475945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목표 설정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5929D7-04F5-175E-E0D1-BF2BF2AA5CC5}"/>
              </a:ext>
            </a:extLst>
          </p:cNvPr>
          <p:cNvSpPr txBox="1"/>
          <p:nvPr/>
        </p:nvSpPr>
        <p:spPr>
          <a:xfrm>
            <a:off x="4449927" y="5929884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원하는</a:t>
            </a:r>
            <a:br/>
            <a:r>
              <a:t>결과 명확화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F83191-4246-748E-9DA8-00F4009A960D}"/>
              </a:ext>
            </a:extLst>
          </p:cNvPr>
          <p:cNvSpPr txBox="1"/>
          <p:nvPr/>
        </p:nvSpPr>
        <p:spPr>
          <a:xfrm>
            <a:off x="5967831" y="5472684"/>
            <a:ext cx="3474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E5A0"/>
                </a:solidFill>
              </a:defRPr>
            </a:pPr>
            <a: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C135E0-4808-3189-B979-F592EAE48DD8}"/>
              </a:ext>
            </a:extLst>
          </p:cNvPr>
          <p:cNvSpPr/>
          <p:nvPr/>
        </p:nvSpPr>
        <p:spPr>
          <a:xfrm>
            <a:off x="6324447" y="4009644"/>
            <a:ext cx="1463040" cy="3474720"/>
          </a:xfrm>
          <a:prstGeom prst="rect">
            <a:avLst/>
          </a:prstGeom>
          <a:solidFill>
            <a:srgbClr val="1E1E1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673CEC-631A-417D-B7A4-DA317F5783F9}"/>
              </a:ext>
            </a:extLst>
          </p:cNvPr>
          <p:cNvSpPr txBox="1"/>
          <p:nvPr/>
        </p:nvSpPr>
        <p:spPr>
          <a:xfrm>
            <a:off x="6370167" y="4146804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A0"/>
                </a:solidFill>
              </a:defRPr>
            </a:pPr>
            <a:r>
              <a:t>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C9EB6-0B64-71EC-CBBB-315F659457BC}"/>
              </a:ext>
            </a:extLst>
          </p:cNvPr>
          <p:cNvSpPr txBox="1"/>
          <p:nvPr/>
        </p:nvSpPr>
        <p:spPr>
          <a:xfrm>
            <a:off x="6370167" y="475945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데이터 첨부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2E3C17-FE88-922F-8AD1-EEBE9CC1C52B}"/>
              </a:ext>
            </a:extLst>
          </p:cNvPr>
          <p:cNvSpPr txBox="1"/>
          <p:nvPr/>
        </p:nvSpPr>
        <p:spPr>
          <a:xfrm>
            <a:off x="6370167" y="5929884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프로젝트 연결</a:t>
            </a:r>
            <a:br/>
            <a:r>
              <a:t>+ 데이터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7DA40F-5D65-E0CE-A4E3-8B896E1A7F76}"/>
              </a:ext>
            </a:extLst>
          </p:cNvPr>
          <p:cNvSpPr txBox="1"/>
          <p:nvPr/>
        </p:nvSpPr>
        <p:spPr>
          <a:xfrm>
            <a:off x="7888071" y="5472684"/>
            <a:ext cx="3474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E5A0"/>
                </a:solidFill>
              </a:defRPr>
            </a:pPr>
            <a: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4C64F2-E00E-BC83-D713-124972EB9680}"/>
              </a:ext>
            </a:extLst>
          </p:cNvPr>
          <p:cNvSpPr/>
          <p:nvPr/>
        </p:nvSpPr>
        <p:spPr>
          <a:xfrm>
            <a:off x="8244687" y="4009644"/>
            <a:ext cx="1463040" cy="3474720"/>
          </a:xfrm>
          <a:prstGeom prst="rect">
            <a:avLst/>
          </a:prstGeom>
          <a:solidFill>
            <a:srgbClr val="1E1E1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91624-B425-8083-AFEF-E0A5D124B650}"/>
              </a:ext>
            </a:extLst>
          </p:cNvPr>
          <p:cNvSpPr txBox="1"/>
          <p:nvPr/>
        </p:nvSpPr>
        <p:spPr>
          <a:xfrm>
            <a:off x="8290407" y="4146804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A0"/>
                </a:solidFill>
              </a:defRPr>
            </a:pPr>
            <a:r>
              <a:t>④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E76D0A-BE3D-F2ED-EE6D-082A2B17A257}"/>
              </a:ext>
            </a:extLst>
          </p:cNvPr>
          <p:cNvSpPr txBox="1"/>
          <p:nvPr/>
        </p:nvSpPr>
        <p:spPr>
          <a:xfrm>
            <a:off x="8290407" y="475945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질문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0AE527-72B7-4347-1515-8E3B288B6F1E}"/>
              </a:ext>
            </a:extLst>
          </p:cNvPr>
          <p:cNvSpPr txBox="1"/>
          <p:nvPr/>
        </p:nvSpPr>
        <p:spPr>
          <a:xfrm>
            <a:off x="8290407" y="5929884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명확하게</a:t>
            </a:r>
            <a:br/>
            <a:r>
              <a:t>요청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4C76CF-F5D0-9DCD-0659-3A1AD378382A}"/>
              </a:ext>
            </a:extLst>
          </p:cNvPr>
          <p:cNvSpPr txBox="1"/>
          <p:nvPr/>
        </p:nvSpPr>
        <p:spPr>
          <a:xfrm>
            <a:off x="9808311" y="5472684"/>
            <a:ext cx="3474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E5A0"/>
                </a:solidFill>
              </a:defRPr>
            </a:pPr>
            <a: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C346C0-C307-8E83-A3CC-80F9C8D77A7D}"/>
              </a:ext>
            </a:extLst>
          </p:cNvPr>
          <p:cNvSpPr/>
          <p:nvPr/>
        </p:nvSpPr>
        <p:spPr>
          <a:xfrm>
            <a:off x="10164927" y="4009644"/>
            <a:ext cx="1463040" cy="3474720"/>
          </a:xfrm>
          <a:prstGeom prst="rect">
            <a:avLst/>
          </a:prstGeom>
          <a:solidFill>
            <a:srgbClr val="1E1E1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E6DAB4-9A44-FC52-1F79-E0382B0ACA6C}"/>
              </a:ext>
            </a:extLst>
          </p:cNvPr>
          <p:cNvSpPr txBox="1"/>
          <p:nvPr/>
        </p:nvSpPr>
        <p:spPr>
          <a:xfrm>
            <a:off x="10210647" y="4146804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A0"/>
                </a:solidFill>
              </a:defRPr>
            </a:pPr>
            <a:r>
              <a:t>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444E65-62EC-F417-BF32-02A78FC75558}"/>
              </a:ext>
            </a:extLst>
          </p:cNvPr>
          <p:cNvSpPr txBox="1"/>
          <p:nvPr/>
        </p:nvSpPr>
        <p:spPr>
          <a:xfrm>
            <a:off x="10210647" y="475945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의사결정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3C61D8-D6AB-5EFE-A2D6-8A8FFEBD2393}"/>
              </a:ext>
            </a:extLst>
          </p:cNvPr>
          <p:cNvSpPr txBox="1"/>
          <p:nvPr/>
        </p:nvSpPr>
        <p:spPr>
          <a:xfrm>
            <a:off x="10210647" y="5929884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AI 결과를</a:t>
            </a:r>
            <a:br/>
            <a:r>
              <a:t>판단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50F3A9-E29A-DB56-991E-4C54F0562F8B}"/>
              </a:ext>
            </a:extLst>
          </p:cNvPr>
          <p:cNvSpPr txBox="1"/>
          <p:nvPr/>
        </p:nvSpPr>
        <p:spPr>
          <a:xfrm>
            <a:off x="11728551" y="5472684"/>
            <a:ext cx="3474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E5A0"/>
                </a:solidFill>
              </a:defRPr>
            </a:pPr>
            <a:r>
              <a:t>→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09C663-5198-3C3B-8FB4-25278781398C}"/>
              </a:ext>
            </a:extLst>
          </p:cNvPr>
          <p:cNvSpPr/>
          <p:nvPr/>
        </p:nvSpPr>
        <p:spPr>
          <a:xfrm>
            <a:off x="12085167" y="4009644"/>
            <a:ext cx="1463040" cy="3474720"/>
          </a:xfrm>
          <a:prstGeom prst="rect">
            <a:avLst/>
          </a:prstGeom>
          <a:solidFill>
            <a:srgbClr val="1E1E1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4D7E9-187A-D52F-C275-178AF4C8D13D}"/>
              </a:ext>
            </a:extLst>
          </p:cNvPr>
          <p:cNvSpPr txBox="1"/>
          <p:nvPr/>
        </p:nvSpPr>
        <p:spPr>
          <a:xfrm>
            <a:off x="12130887" y="4146804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A0"/>
                </a:solidFill>
              </a:defRPr>
            </a:pPr>
            <a:r>
              <a:t>⑥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56E554-8D61-2C00-5A01-0C18D33A1C41}"/>
              </a:ext>
            </a:extLst>
          </p:cNvPr>
          <p:cNvSpPr txBox="1"/>
          <p:nvPr/>
        </p:nvSpPr>
        <p:spPr>
          <a:xfrm>
            <a:off x="12130887" y="475945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실행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65473B-0CEA-6F6B-1400-3D35F48060CB}"/>
              </a:ext>
            </a:extLst>
          </p:cNvPr>
          <p:cNvSpPr txBox="1"/>
          <p:nvPr/>
        </p:nvSpPr>
        <p:spPr>
          <a:xfrm>
            <a:off x="12130887" y="5929884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바로</a:t>
            </a:r>
            <a:br/>
            <a:r>
              <a:t>적용</a:t>
            </a:r>
          </a:p>
        </p:txBody>
      </p:sp>
      <p:grpSp>
        <p:nvGrpSpPr>
          <p:cNvPr id="33" name="Group 2">
            <a:extLst>
              <a:ext uri="{FF2B5EF4-FFF2-40B4-BE49-F238E27FC236}">
                <a16:creationId xmlns:a16="http://schemas.microsoft.com/office/drawing/2014/main" id="{970FBF99-5D92-FDFB-5EAF-345E0AF43A6D}"/>
              </a:ext>
            </a:extLst>
          </p:cNvPr>
          <p:cNvGrpSpPr/>
          <p:nvPr/>
        </p:nvGrpSpPr>
        <p:grpSpPr>
          <a:xfrm>
            <a:off x="275797" y="303268"/>
            <a:ext cx="17656784" cy="1145068"/>
            <a:chOff x="0" y="0"/>
            <a:chExt cx="23542379" cy="1526758"/>
          </a:xfrm>
        </p:grpSpPr>
        <p:grpSp>
          <p:nvGrpSpPr>
            <p:cNvPr id="34" name="Group 3">
              <a:extLst>
                <a:ext uri="{FF2B5EF4-FFF2-40B4-BE49-F238E27FC236}">
                  <a16:creationId xmlns:a16="http://schemas.microsoft.com/office/drawing/2014/main" id="{381AAD17-4D4A-7A89-6758-A69CCDD3342B}"/>
                </a:ext>
              </a:extLst>
            </p:cNvPr>
            <p:cNvGrpSpPr/>
            <p:nvPr/>
          </p:nvGrpSpPr>
          <p:grpSpPr>
            <a:xfrm>
              <a:off x="0" y="0"/>
              <a:ext cx="23542379" cy="1526758"/>
              <a:chOff x="0" y="0"/>
              <a:chExt cx="3633083" cy="235611"/>
            </a:xfrm>
          </p:grpSpPr>
          <p:sp>
            <p:nvSpPr>
              <p:cNvPr id="36" name="Freeform 4">
                <a:extLst>
                  <a:ext uri="{FF2B5EF4-FFF2-40B4-BE49-F238E27FC236}">
                    <a16:creationId xmlns:a16="http://schemas.microsoft.com/office/drawing/2014/main" id="{624F3B78-6E01-C683-8714-99552505E052}"/>
                  </a:ext>
                </a:extLst>
              </p:cNvPr>
              <p:cNvSpPr/>
              <p:nvPr/>
            </p:nvSpPr>
            <p:spPr>
              <a:xfrm>
                <a:off x="0" y="0"/>
                <a:ext cx="3633083" cy="235611"/>
              </a:xfrm>
              <a:custGeom>
                <a:avLst/>
                <a:gdLst/>
                <a:ahLst/>
                <a:cxnLst/>
                <a:rect l="l" t="t" r="r" b="b"/>
                <a:pathLst>
                  <a:path w="3633083" h="235611">
                    <a:moveTo>
                      <a:pt x="8564" y="0"/>
                    </a:moveTo>
                    <a:lnTo>
                      <a:pt x="3624519" y="0"/>
                    </a:lnTo>
                    <a:cubicBezTo>
                      <a:pt x="3629249" y="0"/>
                      <a:pt x="3633083" y="3834"/>
                      <a:pt x="3633083" y="8564"/>
                    </a:cubicBezTo>
                    <a:lnTo>
                      <a:pt x="3633083" y="227047"/>
                    </a:lnTo>
                    <a:cubicBezTo>
                      <a:pt x="3633083" y="229318"/>
                      <a:pt x="3632181" y="231496"/>
                      <a:pt x="3630575" y="233102"/>
                    </a:cubicBezTo>
                    <a:cubicBezTo>
                      <a:pt x="3628969" y="234709"/>
                      <a:pt x="3626791" y="235611"/>
                      <a:pt x="3624519" y="235611"/>
                    </a:cubicBezTo>
                    <a:lnTo>
                      <a:pt x="8564" y="235611"/>
                    </a:lnTo>
                    <a:cubicBezTo>
                      <a:pt x="3834" y="235611"/>
                      <a:pt x="0" y="231777"/>
                      <a:pt x="0" y="227047"/>
                    </a:cubicBezTo>
                    <a:lnTo>
                      <a:pt x="0" y="8564"/>
                    </a:lnTo>
                    <a:cubicBezTo>
                      <a:pt x="0" y="3834"/>
                      <a:pt x="3834" y="0"/>
                      <a:pt x="8564" y="0"/>
                    </a:cubicBezTo>
                    <a:close/>
                  </a:path>
                </a:pathLst>
              </a:custGeom>
              <a:solidFill>
                <a:srgbClr val="86B49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5">
                <a:extLst>
                  <a:ext uri="{FF2B5EF4-FFF2-40B4-BE49-F238E27FC236}">
                    <a16:creationId xmlns:a16="http://schemas.microsoft.com/office/drawing/2014/main" id="{976D2461-7973-CD15-55EC-851B7F9F2C0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633083" cy="26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9EE594D3-A83A-865D-C209-92FCCACFE968}"/>
                </a:ext>
              </a:extLst>
            </p:cNvPr>
            <p:cNvSpPr txBox="1"/>
            <p:nvPr/>
          </p:nvSpPr>
          <p:spPr>
            <a:xfrm>
              <a:off x="624116" y="292485"/>
              <a:ext cx="21563355" cy="9746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692"/>
                </a:lnSpc>
                <a:spcBef>
                  <a:spcPct val="0"/>
                </a:spcBef>
              </a:pPr>
              <a:r>
                <a:rPr 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AI </a:t>
              </a:r>
              <a:r>
                <a:rPr lang="ko-KR" alt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활용 기본 프레임 워크</a:t>
              </a:r>
              <a:endParaRPr lang="en-US" sz="4066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107C1-BC00-84B0-C0D4-58E52767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2">
            <a:extLst>
              <a:ext uri="{FF2B5EF4-FFF2-40B4-BE49-F238E27FC236}">
                <a16:creationId xmlns:a16="http://schemas.microsoft.com/office/drawing/2014/main" id="{4B5BEB90-9C24-A868-1881-CD103DEC7F78}"/>
              </a:ext>
            </a:extLst>
          </p:cNvPr>
          <p:cNvGrpSpPr/>
          <p:nvPr/>
        </p:nvGrpSpPr>
        <p:grpSpPr>
          <a:xfrm>
            <a:off x="275797" y="303268"/>
            <a:ext cx="17656784" cy="1145068"/>
            <a:chOff x="0" y="0"/>
            <a:chExt cx="23542379" cy="1526758"/>
          </a:xfrm>
        </p:grpSpPr>
        <p:grpSp>
          <p:nvGrpSpPr>
            <p:cNvPr id="34" name="Group 3">
              <a:extLst>
                <a:ext uri="{FF2B5EF4-FFF2-40B4-BE49-F238E27FC236}">
                  <a16:creationId xmlns:a16="http://schemas.microsoft.com/office/drawing/2014/main" id="{DDA5FBDF-20D9-9F55-EAA8-8EEB02857F49}"/>
                </a:ext>
              </a:extLst>
            </p:cNvPr>
            <p:cNvGrpSpPr/>
            <p:nvPr/>
          </p:nvGrpSpPr>
          <p:grpSpPr>
            <a:xfrm>
              <a:off x="0" y="0"/>
              <a:ext cx="23542379" cy="1526758"/>
              <a:chOff x="0" y="0"/>
              <a:chExt cx="3633083" cy="235611"/>
            </a:xfrm>
          </p:grpSpPr>
          <p:sp>
            <p:nvSpPr>
              <p:cNvPr id="36" name="Freeform 4">
                <a:extLst>
                  <a:ext uri="{FF2B5EF4-FFF2-40B4-BE49-F238E27FC236}">
                    <a16:creationId xmlns:a16="http://schemas.microsoft.com/office/drawing/2014/main" id="{204199B8-9820-3CFD-BDE3-35DE6E9FA4CB}"/>
                  </a:ext>
                </a:extLst>
              </p:cNvPr>
              <p:cNvSpPr/>
              <p:nvPr/>
            </p:nvSpPr>
            <p:spPr>
              <a:xfrm>
                <a:off x="0" y="0"/>
                <a:ext cx="3633083" cy="235611"/>
              </a:xfrm>
              <a:custGeom>
                <a:avLst/>
                <a:gdLst/>
                <a:ahLst/>
                <a:cxnLst/>
                <a:rect l="l" t="t" r="r" b="b"/>
                <a:pathLst>
                  <a:path w="3633083" h="235611">
                    <a:moveTo>
                      <a:pt x="8564" y="0"/>
                    </a:moveTo>
                    <a:lnTo>
                      <a:pt x="3624519" y="0"/>
                    </a:lnTo>
                    <a:cubicBezTo>
                      <a:pt x="3629249" y="0"/>
                      <a:pt x="3633083" y="3834"/>
                      <a:pt x="3633083" y="8564"/>
                    </a:cubicBezTo>
                    <a:lnTo>
                      <a:pt x="3633083" y="227047"/>
                    </a:lnTo>
                    <a:cubicBezTo>
                      <a:pt x="3633083" y="229318"/>
                      <a:pt x="3632181" y="231496"/>
                      <a:pt x="3630575" y="233102"/>
                    </a:cubicBezTo>
                    <a:cubicBezTo>
                      <a:pt x="3628969" y="234709"/>
                      <a:pt x="3626791" y="235611"/>
                      <a:pt x="3624519" y="235611"/>
                    </a:cubicBezTo>
                    <a:lnTo>
                      <a:pt x="8564" y="235611"/>
                    </a:lnTo>
                    <a:cubicBezTo>
                      <a:pt x="3834" y="235611"/>
                      <a:pt x="0" y="231777"/>
                      <a:pt x="0" y="227047"/>
                    </a:cubicBezTo>
                    <a:lnTo>
                      <a:pt x="0" y="8564"/>
                    </a:lnTo>
                    <a:cubicBezTo>
                      <a:pt x="0" y="3834"/>
                      <a:pt x="3834" y="0"/>
                      <a:pt x="8564" y="0"/>
                    </a:cubicBezTo>
                    <a:close/>
                  </a:path>
                </a:pathLst>
              </a:custGeom>
              <a:solidFill>
                <a:srgbClr val="86B49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5">
                <a:extLst>
                  <a:ext uri="{FF2B5EF4-FFF2-40B4-BE49-F238E27FC236}">
                    <a16:creationId xmlns:a16="http://schemas.microsoft.com/office/drawing/2014/main" id="{502B79AB-F111-F962-C59C-8B1426A7DAF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633083" cy="26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4D8B59FE-6B0C-EEFF-34C1-52209262E8C0}"/>
                </a:ext>
              </a:extLst>
            </p:cNvPr>
            <p:cNvSpPr txBox="1"/>
            <p:nvPr/>
          </p:nvSpPr>
          <p:spPr>
            <a:xfrm>
              <a:off x="624116" y="292485"/>
              <a:ext cx="21563355" cy="9746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692"/>
                </a:lnSpc>
                <a:spcBef>
                  <a:spcPct val="0"/>
                </a:spcBef>
              </a:pPr>
              <a:r>
                <a:rPr 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AI </a:t>
              </a:r>
              <a:r>
                <a:rPr lang="ko-KR" altLang="en-US" sz="4066" dirty="0" err="1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잘쓰는</a:t>
              </a:r>
              <a:r>
                <a:rPr lang="ko-KR" altLang="en-US" sz="4066" dirty="0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 </a:t>
              </a:r>
              <a:r>
                <a:rPr lang="ko-KR" altLang="en-US" sz="4066" dirty="0" err="1">
                  <a:solidFill>
                    <a:srgbClr val="000000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실전팁</a:t>
              </a:r>
              <a:endParaRPr lang="en-US" sz="4066" dirty="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endParaRPr>
            </a:p>
          </p:txBody>
        </p:sp>
      </p:grpSp>
      <p:sp>
        <p:nvSpPr>
          <p:cNvPr id="39" name="TextBox 7">
            <a:extLst>
              <a:ext uri="{FF2B5EF4-FFF2-40B4-BE49-F238E27FC236}">
                <a16:creationId xmlns:a16="http://schemas.microsoft.com/office/drawing/2014/main" id="{760D7DC9-5C87-798D-01A5-3EE7DE7B11F5}"/>
              </a:ext>
            </a:extLst>
          </p:cNvPr>
          <p:cNvSpPr txBox="1"/>
          <p:nvPr/>
        </p:nvSpPr>
        <p:spPr>
          <a:xfrm>
            <a:off x="2760235" y="2019300"/>
            <a:ext cx="1268790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9"/>
              </a:lnSpc>
              <a:spcBef>
                <a:spcPct val="0"/>
              </a:spcBef>
            </a:pPr>
            <a:r>
              <a:rPr lang="ko-KR" altLang="en-US" sz="4592" dirty="0">
                <a:solidFill>
                  <a:srgbClr val="004AAD"/>
                </a:solidFill>
                <a:latin typeface="210 네버랜드"/>
                <a:ea typeface="210 네버랜드"/>
              </a:rPr>
              <a:t>질문이 구체적일수록 결과 퀄리티가 높아집니다</a:t>
            </a:r>
            <a:r>
              <a:rPr lang="en-US" altLang="ko-KR" sz="4592" dirty="0">
                <a:solidFill>
                  <a:srgbClr val="004AAD"/>
                </a:solidFill>
                <a:latin typeface="210 네버랜드"/>
                <a:ea typeface="210 네버랜드"/>
              </a:rPr>
              <a:t>!</a:t>
            </a:r>
            <a:endParaRPr lang="en-US" sz="4592" dirty="0">
              <a:solidFill>
                <a:srgbClr val="004AAD"/>
              </a:solidFill>
              <a:latin typeface="210 네버랜드"/>
              <a:ea typeface="210 네버랜드"/>
              <a:sym typeface="210 네버랜드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A8969F-0CE9-4806-61B9-CF29DF663CFC}"/>
              </a:ext>
            </a:extLst>
          </p:cNvPr>
          <p:cNvSpPr txBox="1"/>
          <p:nvPr/>
        </p:nvSpPr>
        <p:spPr>
          <a:xfrm>
            <a:off x="457200" y="3924300"/>
            <a:ext cx="7772400" cy="4037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6429"/>
              </a:lnSpc>
              <a:spcBef>
                <a:spcPct val="0"/>
              </a:spcBef>
              <a:defRPr sz="4592">
                <a:solidFill>
                  <a:srgbClr val="004AAD"/>
                </a:solidFill>
                <a:latin typeface="210 네버랜드"/>
                <a:ea typeface="210 네버랜드"/>
              </a:defRPr>
            </a:lvl1pPr>
          </a:lstStyle>
          <a:p>
            <a:pPr algn="l"/>
            <a:r>
              <a:rPr lang="ko-KR" alt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“업무일지 정리해줘”</a:t>
            </a:r>
          </a:p>
          <a:p>
            <a:pPr algn="l"/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 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도 어떤 형식으로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어떤 내용을 중심으로 정리해야 하는지 알기 어려움</a:t>
            </a:r>
          </a:p>
          <a:p>
            <a:pPr algn="l"/>
            <a:br>
              <a:rPr lang="ko-KR" alt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ko-KR" alt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AC142B-9F21-2F46-67B8-E09E700DA148}"/>
              </a:ext>
            </a:extLst>
          </p:cNvPr>
          <p:cNvSpPr txBox="1"/>
          <p:nvPr/>
        </p:nvSpPr>
        <p:spPr>
          <a:xfrm>
            <a:off x="9170773" y="3669557"/>
            <a:ext cx="9144000" cy="6453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6429"/>
              </a:lnSpc>
              <a:spcBef>
                <a:spcPct val="0"/>
              </a:spcBef>
              <a:defRPr sz="4592">
                <a:solidFill>
                  <a:srgbClr val="004AAD"/>
                </a:solidFill>
                <a:latin typeface="210 네버랜드"/>
                <a:ea typeface="210 네버랜드"/>
              </a:defRPr>
            </a:lvl1pPr>
          </a:lstStyle>
          <a:p>
            <a:pPr algn="l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아래 방문 녹취 내용을 기반으로 매장 방문일지를 작성해줘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.”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방문 목적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주요 이슈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점주 요청사항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개선 필요사항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후속 액션</a:t>
            </a:r>
          </a:p>
          <a:p>
            <a:pPr algn="l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형식으로 정리하고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빠진 내용이나 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추가 확인 필요한 부분도 같이 알려줘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.”</a:t>
            </a:r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23115DF2-C0E0-35B7-485B-33C0513B5291}"/>
              </a:ext>
            </a:extLst>
          </p:cNvPr>
          <p:cNvSpPr/>
          <p:nvPr/>
        </p:nvSpPr>
        <p:spPr>
          <a:xfrm rot="5400000">
            <a:off x="8178525" y="6164580"/>
            <a:ext cx="441960" cy="381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EE157F1A-3A05-7014-1359-26F1BF19C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72" y="7026871"/>
            <a:ext cx="5878727" cy="295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72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Canvas 1"/>
        <p:cNvGrpSpPr/>
        <p:nvPr/>
      </p:nvGrpSpPr>
      <p:grpSpPr>
        <a:xfrm>
          <a:off x="0" y="0"/>
          <a:ext cx="18288000" cy="10287000"/>
          <a:chOff x="0" y="0"/>
          <a:chExt cx="18288000" cy="10287000"/>
        </a:xfrm>
      </p:grpSpPr>
      <p:grpSp>
        <p:nvGrpSpPr>
          <p:cNvPr id="10" name="Group 10"/>
          <p:cNvGrpSpPr/>
          <p:nvPr/>
        </p:nvGrpSpPr>
        <p:grpSpPr>
          <a:xfrm>
            <a:off x="275797" y="303268"/>
            <a:ext cx="17656784" cy="800000"/>
            <a:chOff x="275797" y="303268"/>
            <a:chExt cx="17656784" cy="800000"/>
          </a:xfrm>
        </p:grpSpPr>
        <p:sp>
          <p:nvSpPr>
            <p:cNvPr id="11" name="Badge11"/>
            <p:cNvSpPr>
              <a:spLocks noGrp="1"/>
            </p:cNvSpPr>
            <p:nvPr/>
          </p:nvSpPr>
          <p:spPr>
            <a:xfrm>
              <a:off x="275797" y="303268"/>
              <a:ext cx="2200000" cy="680000"/>
            </a:xfrm>
            <a:prstGeom prst="roundRect">
              <a:avLst>
                <a:gd name="adj" fmla="val 50000"/>
              </a:avLst>
            </a:prstGeom>
            <a:solidFill>
              <a:srgbClr val="86B499"/>
            </a:solidFill>
            <a:ln>
              <a:noFill/>
            </a:ln>
          </p:spPr>
          <p:txBody>
            <a:bodyPr wrap="square" anchor="ctr" lIns="180000" rIns="180000" tIns="180000" bIns="180000">
              <a:normAutofit/>
            </a:bodyPr>
            <a:lstStyle/>
            <a:p>
              <a:pPr algn="ctr">
                <a:buNone/>
              </a:pPr>
              <a:r>
                <a:rPr lang="ko-KR" altLang="en-US" sz="2200" dirty="0" b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마무리</a:t>
              </a:r>
            </a:p>
          </p:txBody>
        </p:sp>
        <p:sp>
          <p:nvSpPr>
            <p:cNvPr id="12" name="Title12"/>
            <p:cNvSpPr txBox="1">
              <a:spLocks noGrp="1"/>
            </p:cNvSpPr>
            <p:nvPr/>
          </p:nvSpPr>
          <p:spPr>
            <a:xfrm>
              <a:off x="624116" y="292485"/>
              <a:ext cx="17308465" cy="900000"/>
            </a:xfrm>
            <a:prstGeom prst="rect">
              <a:avLst/>
            </a:prstGeom>
            <p:noFill/>
            <a:ln>
              <a:noFill/>
            </a:ln>
          </p:spPr>
          <p:txBody>
            <a:bodyPr wrap="square" anchor="ctr">
              <a:normAutofit/>
            </a:bodyPr>
            <a:lstStyle/>
            <a:p>
              <a:pPr algn="l">
                <a:buNone/>
              </a:pPr>
              <a:r>
                <a:rPr lang="ko-KR" altLang="en-US" sz="4066" dirty="0" b="1">
                  <a:solidFill>
                    <a:srgbClr val="2E7D32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마무리</a:t>
              </a:r>
            </a:p>
          </p:txBody>
        </p:sp>
      </p:grpSp>
      <p:sp>
        <p:nvSpPr>
          <p:cNvPr id="20" name="Tagline"/>
          <p:cNvSpPr txBox="1">
            <a:spLocks noGrp="1"/>
          </p:cNvSpPr>
          <p:nvPr/>
        </p:nvSpPr>
        <p:spPr>
          <a:xfrm>
            <a:off x="500000" y="1600000"/>
            <a:ext cx="17288000" cy="900000"/>
          </a:xfrm>
          <a:prstGeom prst="rect">
            <a:avLst/>
          </a:prstGeom>
          <p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ko-KR" altLang="en-US" sz="5600" dirty="0" b="1">
                <a:solidFill>
                  <a:srgbClr val="004AAD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AI는 사람을 대체하지 않습니다</a:t>
            </a:r>
          </a:p>
        </p:txBody>
      </p:sp>
      <p:sp>
        <p:nvSpPr>
          <p:cNvPr id="21" name="Sub"/>
          <p:cNvSpPr txBox="1">
            <a:spLocks noGrp="1"/>
          </p:cNvSpPr>
          <p:nvPr/>
        </p:nvSpPr>
        <p:spPr>
          <a:xfrm>
            <a:off x="500000" y="2620000"/>
            <a:ext cx="17288000" cy="700000"/>
          </a:xfrm>
          <a:prstGeom prst="rect">
            <a:avLst/>
          </a:prstGeom>
          <p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ko-KR" altLang="en-US" sz="2400" dirty="0">
                <a:solidFill>
                  <a:srgbClr val="333333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반복 정리·요약·기록은 AI가 보조하고, 현장 판단·소통·의사결정은 사람이 담당합니다.</a:t>
            </a:r>
          </a:p>
        </p:txBody>
      </p:sp>
      <p:sp>
        <p:nvSpPr>
          <p:cNvPr id="30" name="LeftBox"/>
          <p:cNvSpPr>
            <a:spLocks noGrp="1"/>
          </p:cNvSpPr>
          <p:nvPr/>
        </p:nvSpPr>
        <p:spPr>
          <a:xfrm>
            <a:off x="400000" y="3500000"/>
            <a:ext cx="8100000" cy="58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square" anchor="t" lIns="220000" rIns="220000" tIns="220000" bIns="220000">
            <a:normAutofit/>
          </a:bodyPr>
          <a:lstStyle/>
          <a:p>
            <a:pPr algn="l">
              <a:buNone/>
            </a:pPr>
            <a:r>
              <a:rPr lang="ko-KR" altLang="en-US" sz="2600" dirty="0" b="1">
                <a:solidFill>
                  <a:srgbClr val="86B499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AI가 보조하는 것</a:t>
            </a:r>
          </a:p>
          <a:p>
            <a:endParaRPr lang="ko-KR" altLang="en-US" dirty="0"/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200" dirty="0">
                <a:solidFill>
                  <a:srgbClr val="86B499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</a:t>
            </a:r>
            <a:r>
              <a:rPr lang="ko-KR" altLang="en-US" sz="2200" dirty="0">
                <a:solidFill>
                  <a:srgbClr val="EEEEEE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문서 정리 / 회의록 자동 요약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200" dirty="0">
                <a:solidFill>
                  <a:srgbClr val="86B499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</a:t>
            </a:r>
            <a:r>
              <a:rPr lang="ko-KR" altLang="en-US" sz="2200" dirty="0">
                <a:solidFill>
                  <a:srgbClr val="EEEEEE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데이터 분류 및 반복 집계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200" dirty="0">
                <a:solidFill>
                  <a:srgbClr val="86B499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</a:t>
            </a:r>
            <a:r>
              <a:rPr lang="ko-KR" altLang="en-US" sz="2200" dirty="0">
                <a:solidFill>
                  <a:srgbClr val="EEEEEE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표준 문구 생성 / 이메일 초안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200" dirty="0">
                <a:solidFill>
                  <a:srgbClr val="86B499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</a:t>
            </a:r>
            <a:r>
              <a:rPr lang="ko-KR" altLang="en-US" sz="2200" dirty="0">
                <a:solidFill>
                  <a:srgbClr val="EEEEEE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정보 검색 및 빠른 요약</a:t>
            </a:r>
          </a:p>
        </p:txBody>
      </p:sp>
      <p:sp>
        <p:nvSpPr>
          <p:cNvPr id="32" name="Divider"/>
          <p:cNvSpPr>
            <a:spLocks noGrp="1"/>
          </p:cNvSpPr>
          <p:nvPr/>
        </p:nvSpPr>
        <p:spPr>
          <a:xfrm>
            <a:off x="9144000" y="3500000"/>
            <a:ext cx="50000" cy="5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</p:txBody>
      </p:sp>
      <p:sp>
        <p:nvSpPr>
          <p:cNvPr id="31" name="RightBox"/>
          <p:cNvSpPr>
            <a:spLocks noGrp="1"/>
          </p:cNvSpPr>
          <p:nvPr/>
        </p:nvSpPr>
        <p:spPr>
          <a:xfrm>
            <a:off x="9788000" y="3500000"/>
            <a:ext cx="8100000" cy="580000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txBody>
          <a:bodyPr wrap="square" anchor="t" lIns="220000" rIns="220000" tIns="220000" bIns="220000">
            <a:normAutofit/>
          </a:bodyPr>
          <a:lstStyle/>
          <a:p>
            <a:pPr algn="l">
              <a:buNone/>
            </a:pPr>
            <a:r>
              <a:rPr lang="ko-KR" altLang="en-US" sz="2600" dirty="0" b="1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사람이 담당하는 것</a:t>
            </a:r>
          </a:p>
          <a:p>
            <a:endParaRPr lang="ko-KR" altLang="en-US" dirty="0"/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200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</a:t>
            </a:r>
            <a:r>
              <a:rPr lang="ko-KR" altLang="en-US" sz="2200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현장 상황 판단 및 의사결정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200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</a:t>
            </a:r>
            <a:r>
              <a:rPr lang="ko-KR" altLang="en-US" sz="2200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팀원·고객과의 소통 및 신뢰 형성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200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</a:t>
            </a:r>
            <a:r>
              <a:rPr lang="ko-KR" altLang="en-US" sz="2200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창의적 아이디어 및 문제 해결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200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</a:t>
            </a:r>
            <a:r>
              <a:rPr lang="ko-KR" altLang="en-US" sz="2200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책임 있는 실행과 결과 관리</a:t>
            </a:r>
          </a:p>
        </p:txBody>
      </p:sp>
      <p:sp>
        <p:nvSpPr>
          <p:cNvPr id="33" name="Quote"/>
          <p:cNvSpPr txBox="1">
            <a:spLocks noGrp="1"/>
          </p:cNvSpPr>
          <p:nvPr/>
        </p:nvSpPr>
        <p:spPr>
          <a:xfrm>
            <a:off x="500000" y="9450000"/>
            <a:ext cx="17288000" cy="700000"/>
          </a:xfrm>
          <a:prstGeom prst="rect">
            <a:avLst/>
          </a:prstGeom>
          <p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ko-KR" altLang="en-US" sz="2000" dirty="0" i="1">
                <a:solidFill>
                  <a:srgbClr val="777777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"사람은 말과 달리기 시합을 하지 않습니다. 말이 더 빠르기 때문이 아니라, 함께 더 멀리 가기 위해서입니다."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Canvas 1"/>
        <p:cNvGrpSpPr/>
        <p:nvPr/>
      </p:nvGrpSpPr>
      <p:grpSpPr>
        <a:xfrm>
          <a:off x="0" y="0"/>
          <a:ext cx="18288000" cy="10287000"/>
          <a:chOff x="0" y="0"/>
          <a:chExt cx="18288000" cy="10287000"/>
        </a:xfrm>
      </p:grpSpPr>
      <p:grpSp>
        <p:nvGrpSpPr>
          <p:cNvPr id="10" name="Group 10"/>
          <p:cNvGrpSpPr/>
          <p:nvPr/>
        </p:nvGrpSpPr>
        <p:grpSpPr>
          <a:xfrm>
            <a:off x="275797" y="303268"/>
            <a:ext cx="17656784" cy="800000"/>
            <a:chOff x="275797" y="303268"/>
            <a:chExt cx="17656784" cy="800000"/>
          </a:xfrm>
        </p:grpSpPr>
        <p:sp>
          <p:nvSpPr>
            <p:cNvPr id="11" name="Badge11"/>
            <p:cNvSpPr>
              <a:spLocks noGrp="1"/>
            </p:cNvSpPr>
            <p:nvPr/>
          </p:nvSpPr>
          <p:spPr>
            <a:xfrm>
              <a:off x="275797" y="303268"/>
              <a:ext cx="4200000" cy="680000"/>
            </a:xfrm>
            <a:prstGeom prst="roundRect">
              <a:avLst>
                <a:gd name="adj" fmla="val 50000"/>
              </a:avLst>
            </a:prstGeom>
            <a:solidFill>
              <a:srgbClr val="86B499"/>
            </a:solidFill>
            <a:ln>
              <a:noFill/>
            </a:ln>
          </p:spPr>
          <p:txBody>
            <a:bodyPr wrap="square" anchor="ctr" lIns="180000" rIns="180000" tIns="180000" bIns="180000">
              <a:normAutofit/>
            </a:bodyPr>
            <a:lstStyle/>
            <a:p>
              <a:pPr algn="ctr">
                <a:buNone/>
              </a:pPr>
              <a:r>
                <a:rPr lang="ko-KR" altLang="en-US" sz="1800" dirty="0" b="1">
                  <a:solidFill>
                    <a:srgbClr val="FFFFFF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회사 DX / AX 전환 현황</a:t>
              </a:r>
            </a:p>
          </p:txBody>
        </p:sp>
        <p:sp>
          <p:nvSpPr>
            <p:cNvPr id="12" name="Title12"/>
            <p:cNvSpPr txBox="1">
              <a:spLocks noGrp="1"/>
            </p:cNvSpPr>
            <p:nvPr/>
          </p:nvSpPr>
          <p:spPr>
            <a:xfrm>
              <a:off x="624116" y="292485"/>
              <a:ext cx="17308465" cy="900000"/>
            </a:xfrm>
            <a:prstGeom prst="rect">
              <a:avLst/>
            </a:prstGeom>
            <p:noFill/>
            <a:ln>
              <a:noFill/>
            </a:ln>
          </p:spPr>
          <p:txBody>
            <a:bodyPr wrap="square" anchor="ctr">
              <a:normAutofit/>
            </a:bodyPr>
            <a:lstStyle/>
            <a:p>
              <a:pPr algn="l">
                <a:buNone/>
              </a:pPr>
              <a:r>
                <a:rPr lang="ko-KR" altLang="en-US" sz="4066" dirty="0" b="1">
                  <a:solidFill>
                    <a:srgbClr val="2E7D32"/>
                  </a:solidFill>
                  <a:latin typeface="210 네버랜드"/>
                  <a:ea typeface="210 네버랜드"/>
                  <a:cs typeface="210 네버랜드"/>
                  <a:sym typeface="210 네버랜드"/>
                </a:rPr>
                <a:t>회사 DX / AX 전환 현황</a:t>
              </a:r>
            </a:p>
          </p:txBody>
        </p:sp>
      </p:grpSp>
      <p:sp>
        <p:nvSpPr>
          <p:cNvPr id="20" name="VDivider"/>
          <p:cNvSpPr>
            <a:spLocks noGrp="1"/>
          </p:cNvSpPr>
          <p:nvPr/>
        </p:nvSpPr>
        <p:spPr>
          <a:xfrm>
            <a:off x="9119000" y="1400000"/>
            <a:ext cx="50000" cy="86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</p:txBody>
      </p:sp>
      <p:sp>
        <p:nvSpPr>
          <p:cNvPr id="21" name="DXHeader"/>
          <p:cNvSpPr txBox="1">
            <a:spLocks noGrp="1"/>
          </p:cNvSpPr>
          <p:nvPr/>
        </p:nvSpPr>
        <p:spPr>
          <a:xfrm>
            <a:off x="400000" y="1350000"/>
            <a:ext cx="8500000" cy="700000"/>
          </a:xfrm>
          <a:prstGeom prst="rect">
            <a:avLst/>
          </a:prstGeom>
          <p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ko-KR" altLang="en-US" sz="3200" dirty="0" b="1">
                <a:solidFill>
                  <a:srgbClr val="2E7D3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DX  Data Transformation</a:t>
            </a:r>
          </a:p>
        </p:txBody>
      </p:sp>
      <p:sp>
        <p:nvSpPr>
          <p:cNvPr id="22" name="DXCurrent"/>
          <p:cNvSpPr>
            <a:spLocks noGrp="1"/>
          </p:cNvSpPr>
          <p:nvPr/>
        </p:nvSpPr>
        <p:spPr>
          <a:xfrm>
            <a:off x="400000" y="2150000"/>
            <a:ext cx="8500000" cy="3000000"/>
          </a:xfrm>
          <a:prstGeom prst="rect">
            <a:avLst/>
          </a:prstGeom>
          <a:solidFill>
            <a:srgbClr val="F1F8F1"/>
          </a:solidFill>
          <a:ln>
            <a:noFill/>
          </a:ln>
        </p:spPr>
        <p:txBody>
          <a:bodyPr wrap="square" anchor="t" lIns="220000" rIns="220000" tIns="220000" bIns="220000">
            <a:normAutofit/>
          </a:bodyPr>
          <a:lstStyle/>
          <a:p>
            <a:pPr algn="l">
              <a:buNone/>
            </a:pPr>
            <a:r>
              <a:rPr lang="ko-KR" altLang="en-US" sz="2400" dirty="0" b="1">
                <a:solidFill>
                  <a:srgbClr val="2E7D3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현재 진행 중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매출·주문 데이터 자동 수집 (배민·쿠팡·포스 연동)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일 마감 자동 집계 파이프라인 (Airflow DAG 운영)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PowerBI 대시보드 → 매출 현황 실시간 조회</a:t>
            </a:r>
          </a:p>
        </p:txBody>
      </p:sp>
      <p:sp>
        <p:nvSpPr>
          <p:cNvPr id="23" name="DXFuture"/>
          <p:cNvSpPr>
            <a:spLocks noGrp="1"/>
          </p:cNvSpPr>
          <p:nvPr/>
        </p:nvSpPr>
        <p:spPr>
          <a:xfrm>
            <a:off x="400000" y="5350000"/>
            <a:ext cx="8500000" cy="290000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txBody>
          <a:bodyPr wrap="square" anchor="t" lIns="220000" rIns="220000" tIns="220000" bIns="220000">
            <a:normAutofit/>
          </a:bodyPr>
          <a:lstStyle/>
          <a:p>
            <a:pPr algn="l">
              <a:buNone/>
            </a:pPr>
            <a:r>
              <a:rPr lang="ko-KR" altLang="en-US" sz="2400" dirty="0" b="1">
                <a:solidFill>
                  <a:srgbClr val="2E7D3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앞으로 방향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전 지점 표준 KPI 자동화 (이상 감지 알림 포함)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메뉴·원가·재고 데이터 통합 분석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의사결정용 경영 지표 자동 리포트</a:t>
            </a:r>
          </a:p>
        </p:txBody>
      </p:sp>
      <p:sp>
        <p:nvSpPr>
          <p:cNvPr id="24" name="AXHeader"/>
          <p:cNvSpPr txBox="1">
            <a:spLocks noGrp="1"/>
          </p:cNvSpPr>
          <p:nvPr/>
        </p:nvSpPr>
        <p:spPr>
          <a:xfrm>
            <a:off x="9400000" y="1350000"/>
            <a:ext cx="8500000" cy="700000"/>
          </a:xfrm>
          <a:prstGeom prst="rect">
            <a:avLst/>
          </a:prstGeom>
          <p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ko-KR" altLang="en-US" sz="3200" dirty="0" b="1">
                <a:solidFill>
                  <a:srgbClr val="004AAD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AX  AI Transformation</a:t>
            </a:r>
          </a:p>
        </p:txBody>
      </p:sp>
      <p:sp>
        <p:nvSpPr>
          <p:cNvPr id="25" name="AXCurrent"/>
          <p:cNvSpPr>
            <a:spLocks noGrp="1"/>
          </p:cNvSpPr>
          <p:nvPr/>
        </p:nvSpPr>
        <p:spPr>
          <a:xfrm>
            <a:off x="9400000" y="2150000"/>
            <a:ext cx="8500000" cy="3000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txBody>
          <a:bodyPr wrap="square" anchor="t" lIns="220000" rIns="220000" tIns="220000" bIns="220000">
            <a:normAutofit/>
          </a:bodyPr>
          <a:lstStyle/>
          <a:p>
            <a:pPr algn="l">
              <a:buNone/>
            </a:pPr>
            <a:r>
              <a:rPr lang="ko-KR" altLang="en-US" sz="2400" dirty="0" b="1">
                <a:solidFill>
                  <a:srgbClr val="004AAD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현재 진행 중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ChatGPT·Claude 업무 활용 (문서 작성·요약·번역)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AI 기반 품목 자동 분류 (포스피드 화이트리스트)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본사 AI 도구 사용 교육 (오늘 DXAX 교육 포함)</a:t>
            </a:r>
          </a:p>
        </p:txBody>
      </p:sp>
      <p:sp>
        <p:nvSpPr>
          <p:cNvPr id="26" name="AXFuture"/>
          <p:cNvSpPr>
            <a:spLocks noGrp="1"/>
          </p:cNvSpPr>
          <p:nvPr/>
        </p:nvSpPr>
        <p:spPr>
          <a:xfrm>
            <a:off x="9400000" y="5350000"/>
            <a:ext cx="8500000" cy="2900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txBody>
          <a:bodyPr wrap="square" anchor="t" lIns="220000" rIns="220000" tIns="220000" bIns="220000">
            <a:normAutofit/>
          </a:bodyPr>
          <a:lstStyle/>
          <a:p>
            <a:pPr algn="l">
              <a:buNone/>
            </a:pPr>
            <a:r>
              <a:rPr lang="ko-KR" altLang="en-US" sz="2400" dirty="0" b="1">
                <a:solidFill>
                  <a:srgbClr val="004AAD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앞으로 방향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AI 어시스턴트 → 반복 보고·알림 자동화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매장 CS 대응·VOC 분석 자동 요약</a:t>
            </a:r>
          </a:p>
          <a:p>
            <a:pPr algn="l">
              <a:lnSpc>
                <a:spcPts val="3600"/>
              </a:lnSpc>
              <a:spcBef>
                <a:spcPts val="100"/>
              </a:spcBef>
              <a:buNone/>
            </a:pPr>
            <a:r>
              <a:rPr lang="ko-KR" altLang="en-US" sz="2100" dirty="0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▸  조리·운영 매뉴얼 AI 기반 업데이트 시스템</a:t>
            </a:r>
          </a:p>
        </p:txBody>
      </p:sp>
      <p:sp>
        <p:nvSpPr>
          <p:cNvPr id="27" name="GoalBox"/>
          <p:cNvSpPr>
            <a:spLocks noGrp="1"/>
          </p:cNvSpPr>
          <p:nvPr/>
        </p:nvSpPr>
        <p:spPr>
          <a:xfrm>
            <a:off x="400000" y="8450000"/>
            <a:ext cx="17488000" cy="16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anchor="ctr" lIns="220000" rIns="220000" tIns="220000" bIns="220000">
            <a:normAutofit/>
          </a:bodyPr>
          <a:lstStyle/>
          <a:p>
            <a:pPr algn="ctr">
              <a:buNone/>
            </a:pPr>
            <a:r>
              <a:rPr lang="ko-KR" altLang="en-US" sz="2600" dirty="0" b="1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최종 목표</a:t>
            </a:r>
          </a:p>
          <a:p>
            <a:pPr algn="ctr">
              <a:spcBef>
                <a:spcPts val="100"/>
              </a:spcBef>
              <a:buNone/>
            </a:pPr>
            <a:r>
              <a:rPr lang="ko-KR" altLang="en-US" sz="2400" dirty="0">
                <a:solidFill>
                  <a:srgbClr val="FFFF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데이터 기반 의사결정 + AI 보조 실행 = 더 빠르고 정확한 도리당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589</Words>
  <Application>Microsoft Office PowerPoint</Application>
  <PresentationFormat>사용자 지정</PresentationFormat>
  <Paragraphs>119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210 네버랜드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전사 DX/AX 교육 </dc:title>
  <cp:lastModifiedBy>조 민준</cp:lastModifiedBy>
  <cp:revision>16</cp:revision>
  <dcterms:created xsi:type="dcterms:W3CDTF">2006-08-16T00:00:00Z</dcterms:created>
  <dcterms:modified xsi:type="dcterms:W3CDTF">2026-05-28T06:12:28Z</dcterms:modified>
  <dc:identifier>DAHK6LPcjqg</dc:identifier>
</cp:coreProperties>
</file>